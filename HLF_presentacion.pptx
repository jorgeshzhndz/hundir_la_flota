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isión general" id="{64250CCF-67E8-35CB-498D-352D70C0CD0F}">
          <p14:sldIdLst>
            <p14:sldId id="256"/>
            <p14:sldId id="257"/>
            <p14:sldId id="258"/>
          </p14:sldIdLst>
        </p14:section>
        <p14:section name="utils.py" id="{DB1CB8DD-7138-682B-E2FF-2431AFD1F69D}">
          <p14:sldIdLst>
            <p14:sldId id="259"/>
            <p14:sldId id="260"/>
            <p14:sldId id="261"/>
            <p14:sldId id="262"/>
          </p14:sldIdLst>
        </p14:section>
        <p14:section name="bot.py" id="{A1657527-55EF-4784-D0E5-73B41FF73117}">
          <p14:sldIdLst>
            <p14:sldId id="263"/>
            <p14:sldId id="264"/>
          </p14:sldIdLst>
        </p14:section>
        <p14:section name="main.py y visual.py" id="{7E26624B-8B44-63D0-48FA-0DBD0BD86F29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5" d="100"/>
          <a:sy n="155" d="100"/>
        </p:scale>
        <p:origin x="208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11217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Hundir la flota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F766E"/>
                </a:solidFill>
              </a:rPr>
              <a:t>The Bridge | Data Science Bootcamp 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60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Jorge Sánchez Hernández</a:t>
            </a:r>
            <a:endParaRPr lang="en-US" sz="1400" dirty="0"/>
          </a:p>
        </p:txBody>
      </p:sp>
      <p:sp>
        <p:nvSpPr>
          <p:cNvPr id="5" name="tile 00">
            <a:extLst>
              <a:ext uri="{FF2B5EF4-FFF2-40B4-BE49-F238E27FC236}">
                <a16:creationId xmlns:a16="http://schemas.microsoft.com/office/drawing/2014/main" id="{FDC806F3-D715-4B8F-7D46-A30E60BDAAAA}"/>
              </a:ext>
            </a:extLst>
          </p:cNvPr>
          <p:cNvSpPr/>
          <p:nvPr/>
        </p:nvSpPr>
        <p:spPr>
          <a:xfrm>
            <a:off x="5120640" y="7772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0F9FF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CC1D1FF-1699-C2A8-A07B-418FC05C112F}"/>
              </a:ext>
            </a:extLst>
          </p:cNvPr>
          <p:cNvSpPr txBox="1"/>
          <p:nvPr/>
        </p:nvSpPr>
        <p:spPr>
          <a:xfrm>
            <a:off x="5120640" y="777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dirty="0">
                <a:solidFill>
                  <a:srgbClr val="000000"/>
                </a:solidFill>
              </a:rPr>
              <a:t>💧</a:t>
            </a:r>
            <a:endParaRPr lang="en-US" sz="2800" dirty="0"/>
          </a:p>
        </p:txBody>
      </p:sp>
      <p:sp>
        <p:nvSpPr>
          <p:cNvPr id="7" name="tile 01">
            <a:extLst>
              <a:ext uri="{FF2B5EF4-FFF2-40B4-BE49-F238E27FC236}">
                <a16:creationId xmlns:a16="http://schemas.microsoft.com/office/drawing/2014/main" id="{74E0D9D1-FE8A-EF83-2AEC-8787BBDFB2F2}"/>
              </a:ext>
            </a:extLst>
          </p:cNvPr>
          <p:cNvSpPr/>
          <p:nvPr/>
        </p:nvSpPr>
        <p:spPr>
          <a:xfrm>
            <a:off x="5833872" y="7772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C0E07DC-861B-8657-C7B7-07852E150405}"/>
              </a:ext>
            </a:extLst>
          </p:cNvPr>
          <p:cNvSpPr txBox="1"/>
          <p:nvPr/>
        </p:nvSpPr>
        <p:spPr>
          <a:xfrm>
            <a:off x="5833872" y="777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🌊</a:t>
            </a:r>
            <a:endParaRPr lang="en-US" sz="2800" dirty="0"/>
          </a:p>
        </p:txBody>
      </p:sp>
      <p:sp>
        <p:nvSpPr>
          <p:cNvPr id="9" name="tile 02">
            <a:extLst>
              <a:ext uri="{FF2B5EF4-FFF2-40B4-BE49-F238E27FC236}">
                <a16:creationId xmlns:a16="http://schemas.microsoft.com/office/drawing/2014/main" id="{55C0750C-D95A-7C52-BB01-CD37380D03CF}"/>
              </a:ext>
            </a:extLst>
          </p:cNvPr>
          <p:cNvSpPr/>
          <p:nvPr/>
        </p:nvSpPr>
        <p:spPr>
          <a:xfrm>
            <a:off x="6547104" y="7772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0F9FF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ECEA15D-BBBB-D3D2-200E-ECB985CFA26A}"/>
              </a:ext>
            </a:extLst>
          </p:cNvPr>
          <p:cNvSpPr txBox="1"/>
          <p:nvPr/>
        </p:nvSpPr>
        <p:spPr>
          <a:xfrm>
            <a:off x="6547104" y="777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💧</a:t>
            </a:r>
            <a:endParaRPr lang="en-US" sz="2800" dirty="0"/>
          </a:p>
        </p:txBody>
      </p:sp>
      <p:sp>
        <p:nvSpPr>
          <p:cNvPr id="11" name="tile 03">
            <a:extLst>
              <a:ext uri="{FF2B5EF4-FFF2-40B4-BE49-F238E27FC236}">
                <a16:creationId xmlns:a16="http://schemas.microsoft.com/office/drawing/2014/main" id="{97D2B40D-5241-DF58-81C1-EFE8285BC4C7}"/>
              </a:ext>
            </a:extLst>
          </p:cNvPr>
          <p:cNvSpPr/>
          <p:nvPr/>
        </p:nvSpPr>
        <p:spPr>
          <a:xfrm>
            <a:off x="7260336" y="7772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14F54EC-279A-2E7F-910B-7669E4AF1B57}"/>
              </a:ext>
            </a:extLst>
          </p:cNvPr>
          <p:cNvSpPr txBox="1"/>
          <p:nvPr/>
        </p:nvSpPr>
        <p:spPr>
          <a:xfrm>
            <a:off x="7260336" y="777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🌊</a:t>
            </a:r>
            <a:endParaRPr lang="en-US" sz="2800" dirty="0"/>
          </a:p>
        </p:txBody>
      </p:sp>
      <p:sp>
        <p:nvSpPr>
          <p:cNvPr id="13" name="tile 04">
            <a:extLst>
              <a:ext uri="{FF2B5EF4-FFF2-40B4-BE49-F238E27FC236}">
                <a16:creationId xmlns:a16="http://schemas.microsoft.com/office/drawing/2014/main" id="{9F3ED839-A5E7-C566-3E18-BFB8A43A3022}"/>
              </a:ext>
            </a:extLst>
          </p:cNvPr>
          <p:cNvSpPr/>
          <p:nvPr/>
        </p:nvSpPr>
        <p:spPr>
          <a:xfrm>
            <a:off x="7973568" y="7772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0F9FF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6950C99-AD2F-39FC-3973-2F5E43D1CBEF}"/>
              </a:ext>
            </a:extLst>
          </p:cNvPr>
          <p:cNvSpPr txBox="1"/>
          <p:nvPr/>
        </p:nvSpPr>
        <p:spPr>
          <a:xfrm>
            <a:off x="7973568" y="777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⚓</a:t>
            </a:r>
            <a:endParaRPr lang="en-US" sz="2800" dirty="0"/>
          </a:p>
        </p:txBody>
      </p:sp>
      <p:sp>
        <p:nvSpPr>
          <p:cNvPr id="15" name="tile 10">
            <a:extLst>
              <a:ext uri="{FF2B5EF4-FFF2-40B4-BE49-F238E27FC236}">
                <a16:creationId xmlns:a16="http://schemas.microsoft.com/office/drawing/2014/main" id="{32857310-68D5-6EBB-384D-800D780CE668}"/>
              </a:ext>
            </a:extLst>
          </p:cNvPr>
          <p:cNvSpPr/>
          <p:nvPr/>
        </p:nvSpPr>
        <p:spPr>
          <a:xfrm>
            <a:off x="5120640" y="1490472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8A00526-F1BD-466F-887A-E93A91135D31}"/>
              </a:ext>
            </a:extLst>
          </p:cNvPr>
          <p:cNvSpPr txBox="1"/>
          <p:nvPr/>
        </p:nvSpPr>
        <p:spPr>
          <a:xfrm>
            <a:off x="5120640" y="14904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dirty="0">
                <a:solidFill>
                  <a:srgbClr val="000000"/>
                </a:solidFill>
              </a:rPr>
              <a:t>💧</a:t>
            </a:r>
            <a:endParaRPr lang="en-US" sz="2800" dirty="0"/>
          </a:p>
        </p:txBody>
      </p:sp>
      <p:sp>
        <p:nvSpPr>
          <p:cNvPr id="17" name="tile 11">
            <a:extLst>
              <a:ext uri="{FF2B5EF4-FFF2-40B4-BE49-F238E27FC236}">
                <a16:creationId xmlns:a16="http://schemas.microsoft.com/office/drawing/2014/main" id="{E7F9A6A4-8B0B-5320-F892-F5226CEBAA29}"/>
              </a:ext>
            </a:extLst>
          </p:cNvPr>
          <p:cNvSpPr/>
          <p:nvPr/>
        </p:nvSpPr>
        <p:spPr>
          <a:xfrm>
            <a:off x="5833872" y="1490472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0F9FF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9DB92752-C549-C8A2-8C03-B32DDB9C2280}"/>
              </a:ext>
            </a:extLst>
          </p:cNvPr>
          <p:cNvSpPr txBox="1"/>
          <p:nvPr/>
        </p:nvSpPr>
        <p:spPr>
          <a:xfrm>
            <a:off x="5833872" y="14904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⛵</a:t>
            </a:r>
            <a:endParaRPr lang="en-US" sz="2800" dirty="0"/>
          </a:p>
        </p:txBody>
      </p:sp>
      <p:sp>
        <p:nvSpPr>
          <p:cNvPr id="19" name="tile 12">
            <a:extLst>
              <a:ext uri="{FF2B5EF4-FFF2-40B4-BE49-F238E27FC236}">
                <a16:creationId xmlns:a16="http://schemas.microsoft.com/office/drawing/2014/main" id="{FD962D1C-FFD2-AE22-39A5-9568CD9F7BB3}"/>
              </a:ext>
            </a:extLst>
          </p:cNvPr>
          <p:cNvSpPr/>
          <p:nvPr/>
        </p:nvSpPr>
        <p:spPr>
          <a:xfrm>
            <a:off x="6547104" y="1490472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0A006F0-D71B-3FFC-3F80-1B64394ACE59}"/>
              </a:ext>
            </a:extLst>
          </p:cNvPr>
          <p:cNvSpPr txBox="1"/>
          <p:nvPr/>
        </p:nvSpPr>
        <p:spPr>
          <a:xfrm>
            <a:off x="6547104" y="14904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⛵</a:t>
            </a:r>
            <a:endParaRPr lang="en-US" sz="2800" dirty="0"/>
          </a:p>
        </p:txBody>
      </p:sp>
      <p:sp>
        <p:nvSpPr>
          <p:cNvPr id="21" name="tile 13">
            <a:extLst>
              <a:ext uri="{FF2B5EF4-FFF2-40B4-BE49-F238E27FC236}">
                <a16:creationId xmlns:a16="http://schemas.microsoft.com/office/drawing/2014/main" id="{C83E0C27-8171-511A-DAB6-5B90D4D06E21}"/>
              </a:ext>
            </a:extLst>
          </p:cNvPr>
          <p:cNvSpPr/>
          <p:nvPr/>
        </p:nvSpPr>
        <p:spPr>
          <a:xfrm>
            <a:off x="7260336" y="1490472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0F9FF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EA5D0B7-A386-2EB3-09F3-E0D46E8F1456}"/>
              </a:ext>
            </a:extLst>
          </p:cNvPr>
          <p:cNvSpPr txBox="1"/>
          <p:nvPr/>
        </p:nvSpPr>
        <p:spPr>
          <a:xfrm>
            <a:off x="7260336" y="14904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⛵</a:t>
            </a:r>
            <a:endParaRPr lang="en-US" sz="2800" dirty="0"/>
          </a:p>
        </p:txBody>
      </p:sp>
      <p:sp>
        <p:nvSpPr>
          <p:cNvPr id="23" name="tile 14">
            <a:extLst>
              <a:ext uri="{FF2B5EF4-FFF2-40B4-BE49-F238E27FC236}">
                <a16:creationId xmlns:a16="http://schemas.microsoft.com/office/drawing/2014/main" id="{2A27DC94-0089-D7A6-2F38-8BC8F65BCB96}"/>
              </a:ext>
            </a:extLst>
          </p:cNvPr>
          <p:cNvSpPr/>
          <p:nvPr/>
        </p:nvSpPr>
        <p:spPr>
          <a:xfrm>
            <a:off x="7973568" y="1490472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03A1EAF0-9296-4BE9-1A9E-46CA4454829D}"/>
              </a:ext>
            </a:extLst>
          </p:cNvPr>
          <p:cNvSpPr txBox="1"/>
          <p:nvPr/>
        </p:nvSpPr>
        <p:spPr>
          <a:xfrm>
            <a:off x="7973568" y="14904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🌊</a:t>
            </a:r>
            <a:endParaRPr lang="en-US" sz="2800" dirty="0"/>
          </a:p>
        </p:txBody>
      </p:sp>
      <p:sp>
        <p:nvSpPr>
          <p:cNvPr id="25" name="tile 20">
            <a:extLst>
              <a:ext uri="{FF2B5EF4-FFF2-40B4-BE49-F238E27FC236}">
                <a16:creationId xmlns:a16="http://schemas.microsoft.com/office/drawing/2014/main" id="{FA1C587F-E363-AC0A-1D45-850D053BABD9}"/>
              </a:ext>
            </a:extLst>
          </p:cNvPr>
          <p:cNvSpPr/>
          <p:nvPr/>
        </p:nvSpPr>
        <p:spPr>
          <a:xfrm>
            <a:off x="5120640" y="2203704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0F9FF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6E52A457-6E37-2E01-614C-F40BB6C50512}"/>
              </a:ext>
            </a:extLst>
          </p:cNvPr>
          <p:cNvSpPr txBox="1"/>
          <p:nvPr/>
        </p:nvSpPr>
        <p:spPr>
          <a:xfrm>
            <a:off x="5120640" y="22037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💧</a:t>
            </a:r>
            <a:endParaRPr lang="en-US" sz="2800" dirty="0"/>
          </a:p>
        </p:txBody>
      </p:sp>
      <p:sp>
        <p:nvSpPr>
          <p:cNvPr id="27" name="tile 21">
            <a:extLst>
              <a:ext uri="{FF2B5EF4-FFF2-40B4-BE49-F238E27FC236}">
                <a16:creationId xmlns:a16="http://schemas.microsoft.com/office/drawing/2014/main" id="{D263B887-815E-757B-A432-3D78516A87B1}"/>
              </a:ext>
            </a:extLst>
          </p:cNvPr>
          <p:cNvSpPr/>
          <p:nvPr/>
        </p:nvSpPr>
        <p:spPr>
          <a:xfrm>
            <a:off x="5833872" y="2203704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A18A5315-58E5-39D1-0BE3-ED1926D80B8B}"/>
              </a:ext>
            </a:extLst>
          </p:cNvPr>
          <p:cNvSpPr txBox="1"/>
          <p:nvPr/>
        </p:nvSpPr>
        <p:spPr>
          <a:xfrm>
            <a:off x="5833872" y="22037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dirty="0">
                <a:solidFill>
                  <a:srgbClr val="000000"/>
                </a:solidFill>
              </a:rPr>
              <a:t>💧</a:t>
            </a:r>
            <a:endParaRPr lang="en-US" sz="2800" dirty="0"/>
          </a:p>
        </p:txBody>
      </p:sp>
      <p:sp>
        <p:nvSpPr>
          <p:cNvPr id="29" name="tile 22">
            <a:extLst>
              <a:ext uri="{FF2B5EF4-FFF2-40B4-BE49-F238E27FC236}">
                <a16:creationId xmlns:a16="http://schemas.microsoft.com/office/drawing/2014/main" id="{934F7C74-0E8B-FAB5-6D6B-48BF4884B387}"/>
              </a:ext>
            </a:extLst>
          </p:cNvPr>
          <p:cNvSpPr/>
          <p:nvPr/>
        </p:nvSpPr>
        <p:spPr>
          <a:xfrm>
            <a:off x="6547104" y="2203704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0F9FF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F06830D-9B9B-C0AC-534F-A5C73F158280}"/>
              </a:ext>
            </a:extLst>
          </p:cNvPr>
          <p:cNvSpPr txBox="1"/>
          <p:nvPr/>
        </p:nvSpPr>
        <p:spPr>
          <a:xfrm>
            <a:off x="6547104" y="22037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🌊</a:t>
            </a:r>
            <a:endParaRPr lang="en-US" sz="2800" dirty="0"/>
          </a:p>
        </p:txBody>
      </p:sp>
      <p:sp>
        <p:nvSpPr>
          <p:cNvPr id="31" name="tile 23">
            <a:extLst>
              <a:ext uri="{FF2B5EF4-FFF2-40B4-BE49-F238E27FC236}">
                <a16:creationId xmlns:a16="http://schemas.microsoft.com/office/drawing/2014/main" id="{5AE22860-D891-D4E2-E04B-5517CA535DBB}"/>
              </a:ext>
            </a:extLst>
          </p:cNvPr>
          <p:cNvSpPr/>
          <p:nvPr/>
        </p:nvSpPr>
        <p:spPr>
          <a:xfrm>
            <a:off x="7260336" y="2203704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82E7FFB6-F9DC-FCCF-C9D7-F52355C82CAD}"/>
              </a:ext>
            </a:extLst>
          </p:cNvPr>
          <p:cNvSpPr txBox="1"/>
          <p:nvPr/>
        </p:nvSpPr>
        <p:spPr>
          <a:xfrm>
            <a:off x="7260336" y="22037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🌊</a:t>
            </a:r>
            <a:endParaRPr lang="en-US" sz="2800" dirty="0"/>
          </a:p>
        </p:txBody>
      </p:sp>
      <p:sp>
        <p:nvSpPr>
          <p:cNvPr id="33" name="tile 24">
            <a:extLst>
              <a:ext uri="{FF2B5EF4-FFF2-40B4-BE49-F238E27FC236}">
                <a16:creationId xmlns:a16="http://schemas.microsoft.com/office/drawing/2014/main" id="{9ABAE32F-C4CD-A97B-D4B1-B4497CAFB374}"/>
              </a:ext>
            </a:extLst>
          </p:cNvPr>
          <p:cNvSpPr/>
          <p:nvPr/>
        </p:nvSpPr>
        <p:spPr>
          <a:xfrm>
            <a:off x="7973568" y="2203704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0F9FF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DD1DFBD7-2884-0A5E-5FF0-1D06D2B1AA08}"/>
              </a:ext>
            </a:extLst>
          </p:cNvPr>
          <p:cNvSpPr txBox="1"/>
          <p:nvPr/>
        </p:nvSpPr>
        <p:spPr>
          <a:xfrm>
            <a:off x="7973568" y="225171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419" sz="2800" dirty="0"/>
              <a:t>🛟 </a:t>
            </a:r>
            <a:endParaRPr lang="en-US" sz="2800" dirty="0"/>
          </a:p>
        </p:txBody>
      </p:sp>
      <p:sp>
        <p:nvSpPr>
          <p:cNvPr id="35" name="tile 30">
            <a:extLst>
              <a:ext uri="{FF2B5EF4-FFF2-40B4-BE49-F238E27FC236}">
                <a16:creationId xmlns:a16="http://schemas.microsoft.com/office/drawing/2014/main" id="{88E44AEE-4EEB-DADD-21BC-FFCB773FBD6D}"/>
              </a:ext>
            </a:extLst>
          </p:cNvPr>
          <p:cNvSpPr/>
          <p:nvPr/>
        </p:nvSpPr>
        <p:spPr>
          <a:xfrm>
            <a:off x="5120640" y="2916936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47597668-D2E7-85AB-09BC-DE3676AFE816}"/>
              </a:ext>
            </a:extLst>
          </p:cNvPr>
          <p:cNvSpPr txBox="1"/>
          <p:nvPr/>
        </p:nvSpPr>
        <p:spPr>
          <a:xfrm>
            <a:off x="5120640" y="29169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🌊</a:t>
            </a:r>
            <a:endParaRPr lang="en-US" sz="2800" dirty="0"/>
          </a:p>
        </p:txBody>
      </p:sp>
      <p:sp>
        <p:nvSpPr>
          <p:cNvPr id="37" name="tile 31">
            <a:extLst>
              <a:ext uri="{FF2B5EF4-FFF2-40B4-BE49-F238E27FC236}">
                <a16:creationId xmlns:a16="http://schemas.microsoft.com/office/drawing/2014/main" id="{31F85DAA-2DCD-782F-A9E1-8D42AA1A032C}"/>
              </a:ext>
            </a:extLst>
          </p:cNvPr>
          <p:cNvSpPr/>
          <p:nvPr/>
        </p:nvSpPr>
        <p:spPr>
          <a:xfrm>
            <a:off x="5833872" y="2916936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0F9FF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D1326122-411A-E2AE-8441-402DA739908F}"/>
              </a:ext>
            </a:extLst>
          </p:cNvPr>
          <p:cNvSpPr txBox="1"/>
          <p:nvPr/>
        </p:nvSpPr>
        <p:spPr>
          <a:xfrm>
            <a:off x="5833872" y="29169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419" sz="2800" dirty="0"/>
              <a:t>⛴️</a:t>
            </a:r>
            <a:endParaRPr lang="en-US" sz="2800" dirty="0"/>
          </a:p>
        </p:txBody>
      </p:sp>
      <p:sp>
        <p:nvSpPr>
          <p:cNvPr id="39" name="tile 32">
            <a:extLst>
              <a:ext uri="{FF2B5EF4-FFF2-40B4-BE49-F238E27FC236}">
                <a16:creationId xmlns:a16="http://schemas.microsoft.com/office/drawing/2014/main" id="{73803E77-66EB-6152-8A37-6FE707F94A1A}"/>
              </a:ext>
            </a:extLst>
          </p:cNvPr>
          <p:cNvSpPr/>
          <p:nvPr/>
        </p:nvSpPr>
        <p:spPr>
          <a:xfrm>
            <a:off x="6547104" y="2916936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EE85CE18-104E-3906-BC3C-5415412E4D29}"/>
              </a:ext>
            </a:extLst>
          </p:cNvPr>
          <p:cNvSpPr txBox="1"/>
          <p:nvPr/>
        </p:nvSpPr>
        <p:spPr>
          <a:xfrm>
            <a:off x="6547104" y="29169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419" sz="2800" dirty="0"/>
              <a:t>⛴️</a:t>
            </a:r>
            <a:endParaRPr lang="en-US" sz="2800" dirty="0"/>
          </a:p>
        </p:txBody>
      </p:sp>
      <p:sp>
        <p:nvSpPr>
          <p:cNvPr id="41" name="tile 33">
            <a:extLst>
              <a:ext uri="{FF2B5EF4-FFF2-40B4-BE49-F238E27FC236}">
                <a16:creationId xmlns:a16="http://schemas.microsoft.com/office/drawing/2014/main" id="{2785B71A-7271-D878-841C-C4BD8D858A43}"/>
              </a:ext>
            </a:extLst>
          </p:cNvPr>
          <p:cNvSpPr/>
          <p:nvPr/>
        </p:nvSpPr>
        <p:spPr>
          <a:xfrm>
            <a:off x="7260336" y="2916936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0F9FF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30773D7F-18DC-BF86-4399-708E2B2A29D8}"/>
              </a:ext>
            </a:extLst>
          </p:cNvPr>
          <p:cNvSpPr txBox="1"/>
          <p:nvPr/>
        </p:nvSpPr>
        <p:spPr>
          <a:xfrm>
            <a:off x="7260336" y="29169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💥</a:t>
            </a:r>
            <a:endParaRPr lang="en-US" sz="2800" dirty="0"/>
          </a:p>
        </p:txBody>
      </p:sp>
      <p:sp>
        <p:nvSpPr>
          <p:cNvPr id="43" name="tile 34">
            <a:extLst>
              <a:ext uri="{FF2B5EF4-FFF2-40B4-BE49-F238E27FC236}">
                <a16:creationId xmlns:a16="http://schemas.microsoft.com/office/drawing/2014/main" id="{72D54A80-50F0-C435-A6D0-508D2A6A3167}"/>
              </a:ext>
            </a:extLst>
          </p:cNvPr>
          <p:cNvSpPr/>
          <p:nvPr/>
        </p:nvSpPr>
        <p:spPr>
          <a:xfrm>
            <a:off x="7973568" y="2916936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8A1AAD93-5484-11D4-6817-A16551AAA054}"/>
              </a:ext>
            </a:extLst>
          </p:cNvPr>
          <p:cNvSpPr txBox="1"/>
          <p:nvPr/>
        </p:nvSpPr>
        <p:spPr>
          <a:xfrm>
            <a:off x="7973568" y="29169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🌊</a:t>
            </a:r>
            <a:endParaRPr lang="en-US" sz="2800" dirty="0"/>
          </a:p>
        </p:txBody>
      </p:sp>
      <p:sp>
        <p:nvSpPr>
          <p:cNvPr id="45" name="tile 40">
            <a:extLst>
              <a:ext uri="{FF2B5EF4-FFF2-40B4-BE49-F238E27FC236}">
                <a16:creationId xmlns:a16="http://schemas.microsoft.com/office/drawing/2014/main" id="{05193A53-87A3-0A1D-E45E-F4AAE620DBE5}"/>
              </a:ext>
            </a:extLst>
          </p:cNvPr>
          <p:cNvSpPr/>
          <p:nvPr/>
        </p:nvSpPr>
        <p:spPr>
          <a:xfrm>
            <a:off x="5120640" y="3630168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0F9FF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00172FFE-C887-B88F-06F0-6742487E7208}"/>
              </a:ext>
            </a:extLst>
          </p:cNvPr>
          <p:cNvSpPr txBox="1"/>
          <p:nvPr/>
        </p:nvSpPr>
        <p:spPr>
          <a:xfrm>
            <a:off x="5120640" y="36301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419" sz="2800" dirty="0"/>
              <a:t>⚓</a:t>
            </a:r>
            <a:endParaRPr lang="en-US" sz="2800" dirty="0"/>
          </a:p>
        </p:txBody>
      </p:sp>
      <p:sp>
        <p:nvSpPr>
          <p:cNvPr id="47" name="tile 41">
            <a:extLst>
              <a:ext uri="{FF2B5EF4-FFF2-40B4-BE49-F238E27FC236}">
                <a16:creationId xmlns:a16="http://schemas.microsoft.com/office/drawing/2014/main" id="{342EE16B-E1BE-1DD1-50DD-81644A08567F}"/>
              </a:ext>
            </a:extLst>
          </p:cNvPr>
          <p:cNvSpPr/>
          <p:nvPr/>
        </p:nvSpPr>
        <p:spPr>
          <a:xfrm>
            <a:off x="5833872" y="3630168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1BE431DC-DAF3-9E54-8B0C-DD06FBB1B340}"/>
              </a:ext>
            </a:extLst>
          </p:cNvPr>
          <p:cNvSpPr txBox="1"/>
          <p:nvPr/>
        </p:nvSpPr>
        <p:spPr>
          <a:xfrm>
            <a:off x="5833872" y="36301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🌊</a:t>
            </a:r>
            <a:endParaRPr lang="en-US" sz="2800" dirty="0"/>
          </a:p>
        </p:txBody>
      </p:sp>
      <p:sp>
        <p:nvSpPr>
          <p:cNvPr id="49" name="tile 42">
            <a:extLst>
              <a:ext uri="{FF2B5EF4-FFF2-40B4-BE49-F238E27FC236}">
                <a16:creationId xmlns:a16="http://schemas.microsoft.com/office/drawing/2014/main" id="{3BFDAD7C-ED4E-0258-CA97-7C1ABB359AF6}"/>
              </a:ext>
            </a:extLst>
          </p:cNvPr>
          <p:cNvSpPr/>
          <p:nvPr/>
        </p:nvSpPr>
        <p:spPr>
          <a:xfrm>
            <a:off x="6547104" y="3630168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0F9FF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AC87BD5D-FFE5-D520-3D53-EB82A64D4D8C}"/>
              </a:ext>
            </a:extLst>
          </p:cNvPr>
          <p:cNvSpPr txBox="1"/>
          <p:nvPr/>
        </p:nvSpPr>
        <p:spPr>
          <a:xfrm>
            <a:off x="6547104" y="36301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419" sz="2800" dirty="0"/>
              <a:t>⚓</a:t>
            </a:r>
            <a:endParaRPr lang="en-US" sz="2800" dirty="0"/>
          </a:p>
        </p:txBody>
      </p:sp>
      <p:sp>
        <p:nvSpPr>
          <p:cNvPr id="51" name="tile 43">
            <a:extLst>
              <a:ext uri="{FF2B5EF4-FFF2-40B4-BE49-F238E27FC236}">
                <a16:creationId xmlns:a16="http://schemas.microsoft.com/office/drawing/2014/main" id="{B3589D78-0B98-D874-4E44-D3F32AB11312}"/>
              </a:ext>
            </a:extLst>
          </p:cNvPr>
          <p:cNvSpPr/>
          <p:nvPr/>
        </p:nvSpPr>
        <p:spPr>
          <a:xfrm>
            <a:off x="7260336" y="3630168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93C3AB84-1550-602A-ABB0-3DCCFFC3E587}"/>
              </a:ext>
            </a:extLst>
          </p:cNvPr>
          <p:cNvSpPr txBox="1"/>
          <p:nvPr/>
        </p:nvSpPr>
        <p:spPr>
          <a:xfrm>
            <a:off x="7260336" y="36301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🌊</a:t>
            </a:r>
            <a:endParaRPr lang="en-US" sz="2800" dirty="0"/>
          </a:p>
        </p:txBody>
      </p:sp>
      <p:sp>
        <p:nvSpPr>
          <p:cNvPr id="53" name="tile 44">
            <a:extLst>
              <a:ext uri="{FF2B5EF4-FFF2-40B4-BE49-F238E27FC236}">
                <a16:creationId xmlns:a16="http://schemas.microsoft.com/office/drawing/2014/main" id="{547B19FA-F561-5B28-EAAD-20FC04D23C0F}"/>
              </a:ext>
            </a:extLst>
          </p:cNvPr>
          <p:cNvSpPr/>
          <p:nvPr/>
        </p:nvSpPr>
        <p:spPr>
          <a:xfrm>
            <a:off x="7973568" y="3630168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0F9FF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56253335-A886-A46D-D38F-7D06173F5E6D}"/>
              </a:ext>
            </a:extLst>
          </p:cNvPr>
          <p:cNvSpPr txBox="1"/>
          <p:nvPr/>
        </p:nvSpPr>
        <p:spPr>
          <a:xfrm>
            <a:off x="7973568" y="36301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🌊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Estructura del proyecto</a:t>
            </a:r>
            <a:endParaRPr lang="en-US" sz="3000" dirty="0"/>
          </a:p>
        </p:txBody>
      </p:sp>
      <p:sp>
        <p:nvSpPr>
          <p:cNvPr id="3" name="card main.py"/>
          <p:cNvSpPr/>
          <p:nvPr/>
        </p:nvSpPr>
        <p:spPr>
          <a:xfrm>
            <a:off x="2743200" y="1143000"/>
            <a:ext cx="365760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" name="Text 2"/>
          <p:cNvSpPr txBox="1"/>
          <p:nvPr/>
        </p:nvSpPr>
        <p:spPr>
          <a:xfrm>
            <a:off x="2926080" y="12527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main.py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926080" y="1645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Bucle de la partida y turnos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2011680"/>
            <a:ext cx="0" cy="54864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7" name="card utils.py"/>
          <p:cNvSpPr/>
          <p:nvPr/>
        </p:nvSpPr>
        <p:spPr>
          <a:xfrm>
            <a:off x="457200" y="256032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8" name="Text 6"/>
          <p:cNvSpPr txBox="1"/>
          <p:nvPr/>
        </p:nvSpPr>
        <p:spPr>
          <a:xfrm>
            <a:off x="640080" y="26700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utils.py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063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Tableros, barcos, disparos y vidas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0" y="2011680"/>
            <a:ext cx="0" cy="54864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11" name="card bot.py"/>
          <p:cNvSpPr/>
          <p:nvPr/>
        </p:nvSpPr>
        <p:spPr>
          <a:xfrm>
            <a:off x="3200400" y="256032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2" name="Text 10"/>
          <p:cNvSpPr txBox="1"/>
          <p:nvPr/>
        </p:nvSpPr>
        <p:spPr>
          <a:xfrm>
            <a:off x="3383280" y="26700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bot.py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3063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La CPU y sus 3 niveles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2011680"/>
            <a:ext cx="2743200" cy="54864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15" name="card visual.py"/>
          <p:cNvSpPr/>
          <p:nvPr/>
        </p:nvSpPr>
        <p:spPr>
          <a:xfrm>
            <a:off x="5943600" y="256032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6" name="Text 14"/>
          <p:cNvSpPr txBox="1"/>
          <p:nvPr/>
        </p:nvSpPr>
        <p:spPr>
          <a:xfrm>
            <a:off x="6126480" y="26700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visual.py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3063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 err="1">
                <a:solidFill>
                  <a:srgbClr val="1E293B"/>
                </a:solidFill>
              </a:rPr>
              <a:t>Slowprint</a:t>
            </a:r>
            <a:r>
              <a:rPr lang="en-US" sz="1400" dirty="0">
                <a:solidFill>
                  <a:srgbClr val="1E293B"/>
                </a:solidFill>
              </a:rPr>
              <a:t>: </a:t>
            </a:r>
            <a:r>
              <a:rPr lang="en-US" sz="1400" dirty="0" err="1">
                <a:solidFill>
                  <a:srgbClr val="1E293B"/>
                </a:solidFill>
              </a:rPr>
              <a:t>texto</a:t>
            </a:r>
            <a:r>
              <a:rPr lang="en-US" sz="1400" dirty="0">
                <a:solidFill>
                  <a:srgbClr val="1E293B"/>
                </a:solidFill>
              </a:rPr>
              <a:t> lento en la </a:t>
            </a:r>
            <a:r>
              <a:rPr lang="en-US" sz="1400" dirty="0" err="1">
                <a:solidFill>
                  <a:srgbClr val="1E293B"/>
                </a:solidFill>
              </a:rPr>
              <a:t>visualización</a:t>
            </a:r>
            <a:r>
              <a:rPr lang="en-US" sz="1400" dirty="0">
                <a:solidFill>
                  <a:srgbClr val="1E293B"/>
                </a:solidFill>
              </a:rPr>
              <a:t> del terminal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main.py </a:t>
            </a:r>
            <a:r>
              <a:rPr lang="en-US" sz="1400" dirty="0" err="1">
                <a:solidFill>
                  <a:srgbClr val="64748B"/>
                </a:solidFill>
              </a:rPr>
              <a:t>importa</a:t>
            </a:r>
            <a:r>
              <a:rPr lang="en-US" sz="1400" dirty="0">
                <a:solidFill>
                  <a:srgbClr val="64748B"/>
                </a:solidFill>
              </a:rPr>
              <a:t> </a:t>
            </a:r>
            <a:r>
              <a:rPr lang="en-US" sz="1400" dirty="0" err="1">
                <a:solidFill>
                  <a:srgbClr val="64748B"/>
                </a:solidFill>
              </a:rPr>
              <a:t>funciones</a:t>
            </a:r>
            <a:r>
              <a:rPr lang="en-US" sz="1400" dirty="0">
                <a:solidFill>
                  <a:srgbClr val="64748B"/>
                </a:solidFill>
              </a:rPr>
              <a:t> de los otros </a:t>
            </a:r>
            <a:r>
              <a:rPr lang="en-US" sz="1400" dirty="0" err="1">
                <a:solidFill>
                  <a:srgbClr val="64748B"/>
                </a:solidFill>
              </a:rPr>
              <a:t>tres</a:t>
            </a:r>
            <a:r>
              <a:rPr lang="en-US" sz="1400" dirty="0">
                <a:solidFill>
                  <a:srgbClr val="64748B"/>
                </a:solidFill>
              </a:rPr>
              <a:t> </a:t>
            </a:r>
            <a:r>
              <a:rPr lang="en-US" sz="1400" dirty="0" err="1">
                <a:solidFill>
                  <a:srgbClr val="64748B"/>
                </a:solidFill>
              </a:rPr>
              <a:t>módulos</a:t>
            </a:r>
            <a:r>
              <a:rPr lang="en-US" sz="1400" dirty="0">
                <a:solidFill>
                  <a:srgbClr val="64748B"/>
                </a:solidFill>
              </a:rPr>
              <a:t> para el </a:t>
            </a:r>
            <a:r>
              <a:rPr lang="en-US" sz="1400" dirty="0" err="1">
                <a:solidFill>
                  <a:srgbClr val="64748B"/>
                </a:solidFill>
              </a:rPr>
              <a:t>correcto</a:t>
            </a:r>
            <a:r>
              <a:rPr lang="en-US" sz="1400" dirty="0">
                <a:solidFill>
                  <a:srgbClr val="64748B"/>
                </a:solidFill>
              </a:rPr>
              <a:t> </a:t>
            </a:r>
            <a:r>
              <a:rPr lang="en-US" sz="1400" dirty="0" err="1">
                <a:solidFill>
                  <a:srgbClr val="64748B"/>
                </a:solidFill>
              </a:rPr>
              <a:t>funcionamiento</a:t>
            </a:r>
            <a:r>
              <a:rPr lang="en-US" sz="1400" dirty="0">
                <a:solidFill>
                  <a:srgbClr val="64748B"/>
                </a:solidFill>
              </a:rPr>
              <a:t> de la </a:t>
            </a:r>
            <a:r>
              <a:rPr lang="en-US" sz="1400" dirty="0" err="1">
                <a:solidFill>
                  <a:srgbClr val="64748B"/>
                </a:solidFill>
              </a:rPr>
              <a:t>partida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19" name="Shape 12">
            <a:extLst>
              <a:ext uri="{FF2B5EF4-FFF2-40B4-BE49-F238E27FC236}">
                <a16:creationId xmlns:a16="http://schemas.microsoft.com/office/drawing/2014/main" id="{ADB13C34-5AC0-83B3-3769-A62788E0DEA6}"/>
              </a:ext>
            </a:extLst>
          </p:cNvPr>
          <p:cNvSpPr/>
          <p:nvPr/>
        </p:nvSpPr>
        <p:spPr>
          <a:xfrm flipH="1">
            <a:off x="1865252" y="2011680"/>
            <a:ext cx="2706738" cy="603504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5072007-64C2-B176-51A0-340A18707FAF}"/>
              </a:ext>
            </a:extLst>
          </p:cNvPr>
          <p:cNvSpPr txBox="1"/>
          <p:nvPr/>
        </p:nvSpPr>
        <p:spPr>
          <a:xfrm>
            <a:off x="6858000" y="27712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000" dirty="0"/>
              <a:t>time, sys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C2CB4C5D-0BCB-9C52-E4F5-09E2D138D256}"/>
              </a:ext>
            </a:extLst>
          </p:cNvPr>
          <p:cNvSpPr txBox="1"/>
          <p:nvPr/>
        </p:nvSpPr>
        <p:spPr>
          <a:xfrm>
            <a:off x="1280160" y="2745968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000" dirty="0"/>
              <a:t>numpy, random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tablero y la </a:t>
            </a:r>
            <a:r>
              <a:rPr lang="en-US" sz="3000" b="1" dirty="0" err="1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flota</a:t>
            </a: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Leyenda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⬜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</a:rPr>
              <a:t>Agua sin disparar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1907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719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</a:rPr>
              <a:t>Casilla vecina a un </a:t>
            </a:r>
            <a:r>
              <a:rPr lang="en-US" sz="1500" dirty="0" err="1">
                <a:solidFill>
                  <a:srgbClr val="1E293B"/>
                </a:solidFill>
              </a:rPr>
              <a:t>barco</a:t>
            </a:r>
            <a:r>
              <a:rPr lang="en-US" sz="1500" dirty="0">
                <a:solidFill>
                  <a:srgbClr val="1E293B"/>
                </a:solidFill>
              </a:rPr>
              <a:t> (</a:t>
            </a:r>
            <a:r>
              <a:rPr lang="en-US" sz="1500" dirty="0" err="1">
                <a:solidFill>
                  <a:srgbClr val="1E293B"/>
                </a:solidFill>
              </a:rPr>
              <a:t>Máscara</a:t>
            </a:r>
            <a:r>
              <a:rPr lang="en-US" sz="1500" dirty="0">
                <a:solidFill>
                  <a:srgbClr val="1E293B"/>
                </a:solidFill>
              </a:rPr>
              <a:t>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494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⛵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7977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❎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77977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</a:rPr>
              <a:t>Barco tocado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3101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💀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31012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</a:rPr>
              <a:t>Barco hundido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💧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8404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</a:rPr>
              <a:t>Agua ya disparada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372021" y="4480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Flota [4,3,3,2,2,2] = 16 vidas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grpSp>
        <p:nvGrpSpPr>
          <p:cNvPr id="35" name="Grupo 34">
            <a:extLst>
              <a:ext uri="{FF2B5EF4-FFF2-40B4-BE49-F238E27FC236}">
                <a16:creationId xmlns:a16="http://schemas.microsoft.com/office/drawing/2014/main" id="{5F14A675-0DA4-BF6F-2ACE-BBA9CF989D00}"/>
              </a:ext>
            </a:extLst>
          </p:cNvPr>
          <p:cNvGrpSpPr/>
          <p:nvPr/>
        </p:nvGrpSpPr>
        <p:grpSpPr>
          <a:xfrm>
            <a:off x="4435088" y="1197863"/>
            <a:ext cx="4115788" cy="3448277"/>
            <a:chOff x="5303520" y="914400"/>
            <a:chExt cx="3383280" cy="2926080"/>
          </a:xfrm>
        </p:grpSpPr>
        <p:sp>
          <p:nvSpPr>
            <p:cNvPr id="36" name="code main.py">
              <a:extLst>
                <a:ext uri="{FF2B5EF4-FFF2-40B4-BE49-F238E27FC236}">
                  <a16:creationId xmlns:a16="http://schemas.microsoft.com/office/drawing/2014/main" id="{0F30E290-2C2D-EA81-6455-C779DB0D43F6}"/>
                </a:ext>
              </a:extLst>
            </p:cNvPr>
            <p:cNvSpPr/>
            <p:nvPr/>
          </p:nvSpPr>
          <p:spPr>
            <a:xfrm>
              <a:off x="5303520" y="914400"/>
              <a:ext cx="3383280" cy="2926080"/>
            </a:xfrm>
            <a:prstGeom prst="roundRect">
              <a:avLst>
                <a:gd name="adj" fmla="val 2500"/>
              </a:avLst>
            </a:prstGeom>
            <a:solidFill>
              <a:srgbClr val="F8FAFC"/>
            </a:solidFill>
            <a:ln w="1270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endParaRPr lang="es-419"/>
            </a:p>
          </p:txBody>
        </p:sp>
        <p:sp>
          <p:nvSpPr>
            <p:cNvPr id="37" name="Shape 4">
              <a:extLst>
                <a:ext uri="{FF2B5EF4-FFF2-40B4-BE49-F238E27FC236}">
                  <a16:creationId xmlns:a16="http://schemas.microsoft.com/office/drawing/2014/main" id="{E28B382B-7F30-CAAD-26F2-7C91CC1A0D81}"/>
                </a:ext>
              </a:extLst>
            </p:cNvPr>
            <p:cNvSpPr/>
            <p:nvPr/>
          </p:nvSpPr>
          <p:spPr>
            <a:xfrm>
              <a:off x="5440680" y="1024128"/>
              <a:ext cx="91440" cy="91440"/>
            </a:xfrm>
            <a:prstGeom prst="ellipse">
              <a:avLst/>
            </a:prstGeom>
            <a:solidFill>
              <a:srgbClr val="EF4444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s-419"/>
            </a:p>
          </p:txBody>
        </p:sp>
        <p:sp>
          <p:nvSpPr>
            <p:cNvPr id="38" name="Shape 5">
              <a:extLst>
                <a:ext uri="{FF2B5EF4-FFF2-40B4-BE49-F238E27FC236}">
                  <a16:creationId xmlns:a16="http://schemas.microsoft.com/office/drawing/2014/main" id="{CA83F750-1C74-B2B4-13B2-812A8F16D6AD}"/>
                </a:ext>
              </a:extLst>
            </p:cNvPr>
            <p:cNvSpPr/>
            <p:nvPr/>
          </p:nvSpPr>
          <p:spPr>
            <a:xfrm>
              <a:off x="5596128" y="1024128"/>
              <a:ext cx="91440" cy="91440"/>
            </a:xfrm>
            <a:prstGeom prst="ellipse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s-419"/>
            </a:p>
          </p:txBody>
        </p:sp>
        <p:sp>
          <p:nvSpPr>
            <p:cNvPr id="39" name="Shape 6">
              <a:extLst>
                <a:ext uri="{FF2B5EF4-FFF2-40B4-BE49-F238E27FC236}">
                  <a16:creationId xmlns:a16="http://schemas.microsoft.com/office/drawing/2014/main" id="{741EB119-2CF4-4421-1A82-4CEE02B25350}"/>
                </a:ext>
              </a:extLst>
            </p:cNvPr>
            <p:cNvSpPr/>
            <p:nvPr/>
          </p:nvSpPr>
          <p:spPr>
            <a:xfrm>
              <a:off x="5751576" y="1024128"/>
              <a:ext cx="91440" cy="91440"/>
            </a:xfrm>
            <a:prstGeom prst="ellipse">
              <a:avLst/>
            </a:prstGeom>
            <a:solidFill>
              <a:srgbClr val="22C55E"/>
            </a:solidFill>
            <a:ln w="12700">
              <a:solidFill>
                <a:srgbClr val="22C55E"/>
              </a:solidFill>
              <a:prstDash val="solid"/>
            </a:ln>
          </p:spPr>
          <p:txBody>
            <a:bodyPr/>
            <a:lstStyle/>
            <a:p>
              <a:endParaRPr lang="es-419"/>
            </a:p>
          </p:txBody>
        </p:sp>
        <p:sp>
          <p:nvSpPr>
            <p:cNvPr id="40" name="Text 7">
              <a:extLst>
                <a:ext uri="{FF2B5EF4-FFF2-40B4-BE49-F238E27FC236}">
                  <a16:creationId xmlns:a16="http://schemas.microsoft.com/office/drawing/2014/main" id="{344F93C5-E482-9E7B-BF26-F56AC1163262}"/>
                </a:ext>
              </a:extLst>
            </p:cNvPr>
            <p:cNvSpPr txBox="1"/>
            <p:nvPr/>
          </p:nvSpPr>
          <p:spPr>
            <a:xfrm>
              <a:off x="6035040" y="960120"/>
              <a:ext cx="246888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64748B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main.py</a:t>
              </a:r>
              <a:endParaRPr lang="en-US" sz="1000" dirty="0"/>
            </a:p>
          </p:txBody>
        </p:sp>
        <p:sp>
          <p:nvSpPr>
            <p:cNvPr id="41" name="Text 8">
              <a:extLst>
                <a:ext uri="{FF2B5EF4-FFF2-40B4-BE49-F238E27FC236}">
                  <a16:creationId xmlns:a16="http://schemas.microsoft.com/office/drawing/2014/main" id="{B7CBA21D-D6F9-D74B-2E4F-DA288A724C06}"/>
                </a:ext>
              </a:extLst>
            </p:cNvPr>
            <p:cNvSpPr txBox="1"/>
            <p:nvPr/>
          </p:nvSpPr>
          <p:spPr>
            <a:xfrm>
              <a:off x="5440680" y="1261872"/>
              <a:ext cx="3108960" cy="2514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import numpy as np</a:t>
              </a:r>
              <a:endParaRPr lang="en-US" sz="1300" dirty="0"/>
            </a:p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import random</a:t>
              </a:r>
              <a:endParaRPr lang="en-US" sz="1300" dirty="0"/>
            </a:p>
            <a:p>
              <a:pPr marL="0" indent="0">
                <a:buNone/>
              </a:pPr>
              <a:endParaRPr lang="en-US" sz="1300" dirty="0"/>
            </a:p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board = np.full(</a:t>
              </a:r>
              <a:endParaRPr lang="en-US" sz="1300" dirty="0"/>
            </a:p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    (10, 10), '⬜')</a:t>
              </a:r>
              <a:endParaRPr lang="en-US" sz="1300" dirty="0"/>
            </a:p>
            <a:p>
              <a:pPr marL="0" indent="0">
                <a:buNone/>
              </a:pPr>
              <a:endParaRPr lang="en-US" sz="1300" dirty="0"/>
            </a:p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board[3, 4] = '⛵'</a:t>
              </a:r>
              <a:endParaRPr lang="en-US" sz="1300" dirty="0"/>
            </a:p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board[3, 4] = '❎'</a:t>
              </a:r>
              <a:endParaRPr lang="en-US" sz="1300" dirty="0"/>
            </a:p>
            <a:p>
              <a:pPr marL="0" indent="0">
                <a:buNone/>
              </a:pPr>
              <a:r>
                <a:rPr lang="en-US" sz="1300" dirty="0">
                  <a:solidFill>
                    <a:srgbClr val="1E293B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board[3, 5] = '💧'</a:t>
              </a:r>
              <a:endParaRPr lang="en-US" sz="1300" dirty="0"/>
            </a:p>
          </p:txBody>
        </p:sp>
      </p:grpSp>
      <p:sp>
        <p:nvSpPr>
          <p:cNvPr id="42" name="Text 4">
            <a:extLst>
              <a:ext uri="{FF2B5EF4-FFF2-40B4-BE49-F238E27FC236}">
                <a16:creationId xmlns:a16="http://schemas.microsoft.com/office/drawing/2014/main" id="{F7505C5E-CCB6-387D-3B09-3C645D9AE807}"/>
              </a:ext>
            </a:extLst>
          </p:cNvPr>
          <p:cNvSpPr txBox="1"/>
          <p:nvPr/>
        </p:nvSpPr>
        <p:spPr>
          <a:xfrm>
            <a:off x="1093326" y="222615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</a:rPr>
              <a:t>Barco no </a:t>
            </a:r>
            <a:r>
              <a:rPr lang="en-US" sz="1500" dirty="0" err="1">
                <a:solidFill>
                  <a:srgbClr val="1E293B"/>
                </a:solidFill>
              </a:rPr>
              <a:t>tocado</a:t>
            </a:r>
            <a:r>
              <a:rPr lang="en-US" sz="1500" dirty="0">
                <a:solidFill>
                  <a:srgbClr val="1E293B"/>
                </a:solidFill>
              </a:rPr>
              <a:t> 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utils.py · Crear el tablero y los barcos</a:t>
            </a:r>
            <a:endParaRPr lang="en-US" sz="3000" dirty="0"/>
          </a:p>
        </p:txBody>
      </p:sp>
      <p:sp>
        <p:nvSpPr>
          <p:cNvPr id="3" name="card create_board"/>
          <p:cNvSpPr/>
          <p:nvPr/>
        </p:nvSpPr>
        <p:spPr>
          <a:xfrm>
            <a:off x="457200" y="11430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" name="Text 2"/>
          <p:cNvSpPr txBox="1"/>
          <p:nvPr/>
        </p:nvSpPr>
        <p:spPr>
          <a:xfrm>
            <a:off x="640080" y="1252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create_board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Matriz 10×10 llena de ⬜</a:t>
            </a:r>
            <a:endParaRPr lang="en-US" sz="1400" dirty="0"/>
          </a:p>
        </p:txBody>
      </p:sp>
      <p:sp>
        <p:nvSpPr>
          <p:cNvPr id="6" name="card create_ship"/>
          <p:cNvSpPr/>
          <p:nvPr/>
        </p:nvSpPr>
        <p:spPr>
          <a:xfrm>
            <a:off x="3246120" y="11430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7" name="Text 5"/>
          <p:cNvSpPr txBox="1"/>
          <p:nvPr/>
        </p:nvSpPr>
        <p:spPr>
          <a:xfrm>
            <a:off x="3429000" y="1252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create_ship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Elige orientación y posición al azar hasta que no choque</a:t>
            </a:r>
            <a:endParaRPr lang="en-US" sz="1400" dirty="0"/>
          </a:p>
        </p:txBody>
      </p:sp>
      <p:sp>
        <p:nvSpPr>
          <p:cNvPr id="9" name="card place_ship"/>
          <p:cNvSpPr/>
          <p:nvPr/>
        </p:nvSpPr>
        <p:spPr>
          <a:xfrm>
            <a:off x="6035040" y="11430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0" name="Text 8"/>
          <p:cNvSpPr txBox="1"/>
          <p:nvPr/>
        </p:nvSpPr>
        <p:spPr>
          <a:xfrm>
            <a:off x="6217920" y="1252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place_ship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Rodea el barco de ⬛ y pone ⛵</a:t>
            </a:r>
            <a:endParaRPr lang="en-US" sz="1400" dirty="0"/>
          </a:p>
        </p:txBody>
      </p:sp>
      <p:sp>
        <p:nvSpPr>
          <p:cNvPr id="12" name="code create_board"/>
          <p:cNvSpPr/>
          <p:nvPr/>
        </p:nvSpPr>
        <p:spPr>
          <a:xfrm>
            <a:off x="457200" y="274320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3" name="Shape 11"/>
          <p:cNvSpPr/>
          <p:nvPr/>
        </p:nvSpPr>
        <p:spPr>
          <a:xfrm>
            <a:off x="594360" y="2852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4" name="Shape 12"/>
          <p:cNvSpPr/>
          <p:nvPr/>
        </p:nvSpPr>
        <p:spPr>
          <a:xfrm>
            <a:off x="749808" y="2852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5" name="Shape 13"/>
          <p:cNvSpPr/>
          <p:nvPr/>
        </p:nvSpPr>
        <p:spPr>
          <a:xfrm>
            <a:off x="905256" y="2852928"/>
            <a:ext cx="91440" cy="914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6" name="Text 14"/>
          <p:cNvSpPr txBox="1"/>
          <p:nvPr/>
        </p:nvSpPr>
        <p:spPr>
          <a:xfrm>
            <a:off x="1188720" y="27889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create_board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090672"/>
            <a:ext cx="2377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create_board(size=10):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np.full(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(size, size), '⬜')</a:t>
            </a:r>
            <a:endParaRPr lang="en-US" sz="1100" dirty="0"/>
          </a:p>
        </p:txBody>
      </p:sp>
      <p:sp>
        <p:nvSpPr>
          <p:cNvPr id="18" name="code create_ship"/>
          <p:cNvSpPr/>
          <p:nvPr/>
        </p:nvSpPr>
        <p:spPr>
          <a:xfrm>
            <a:off x="3246120" y="274320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9" name="Shape 17"/>
          <p:cNvSpPr/>
          <p:nvPr/>
        </p:nvSpPr>
        <p:spPr>
          <a:xfrm>
            <a:off x="3383280" y="2852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0" name="Shape 18"/>
          <p:cNvSpPr/>
          <p:nvPr/>
        </p:nvSpPr>
        <p:spPr>
          <a:xfrm>
            <a:off x="3538728" y="2852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1" name="Shape 19"/>
          <p:cNvSpPr/>
          <p:nvPr/>
        </p:nvSpPr>
        <p:spPr>
          <a:xfrm>
            <a:off x="3694176" y="2852928"/>
            <a:ext cx="91440" cy="914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2" name="Text 20"/>
          <p:cNvSpPr txBox="1"/>
          <p:nvPr/>
        </p:nvSpPr>
        <p:spPr>
          <a:xfrm>
            <a:off x="3977640" y="27889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create_ship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383280" y="3090672"/>
            <a:ext cx="2377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orientation = random.choice(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['H', 'V'])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 = np.random.randint(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0, size - lenght + 1)</a:t>
            </a:r>
            <a:endParaRPr lang="en-US" sz="1100" dirty="0"/>
          </a:p>
        </p:txBody>
      </p:sp>
      <p:sp>
        <p:nvSpPr>
          <p:cNvPr id="24" name="code place_ship"/>
          <p:cNvSpPr/>
          <p:nvPr/>
        </p:nvSpPr>
        <p:spPr>
          <a:xfrm>
            <a:off x="6035040" y="274320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5" name="Shape 23"/>
          <p:cNvSpPr/>
          <p:nvPr/>
        </p:nvSpPr>
        <p:spPr>
          <a:xfrm>
            <a:off x="6172200" y="2852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6" name="Shape 24"/>
          <p:cNvSpPr/>
          <p:nvPr/>
        </p:nvSpPr>
        <p:spPr>
          <a:xfrm>
            <a:off x="6327648" y="2852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7" name="Shape 25"/>
          <p:cNvSpPr/>
          <p:nvPr/>
        </p:nvSpPr>
        <p:spPr>
          <a:xfrm>
            <a:off x="6483096" y="2852928"/>
            <a:ext cx="91440" cy="914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8" name="Text 26"/>
          <p:cNvSpPr txBox="1"/>
          <p:nvPr/>
        </p:nvSpPr>
        <p:spPr>
          <a:xfrm>
            <a:off x="6766560" y="27889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place_ship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3090672"/>
            <a:ext cx="2377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row, col in ship: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dr, dc in boxes_around: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board[r, c] == '⬜':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board[r, c] = '⬛'</a:t>
            </a:r>
            <a:endParaRPr lang="en-US" sz="11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Máscara anti-contacto y flota completa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" name="Shape 2"/>
          <p:cNvSpPr/>
          <p:nvPr/>
        </p:nvSpPr>
        <p:spPr>
          <a:xfrm>
            <a:off x="1051560" y="123444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5" name="Shape 3"/>
          <p:cNvSpPr/>
          <p:nvPr/>
        </p:nvSpPr>
        <p:spPr>
          <a:xfrm>
            <a:off x="1554480" y="123444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6" name="Shape 4"/>
          <p:cNvSpPr/>
          <p:nvPr/>
        </p:nvSpPr>
        <p:spPr>
          <a:xfrm>
            <a:off x="2057400" y="123444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7" name="Shape 5"/>
          <p:cNvSpPr/>
          <p:nvPr/>
        </p:nvSpPr>
        <p:spPr>
          <a:xfrm>
            <a:off x="2560320" y="123444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8" name="Shape 6"/>
          <p:cNvSpPr/>
          <p:nvPr/>
        </p:nvSpPr>
        <p:spPr>
          <a:xfrm>
            <a:off x="3063240" y="123444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0" name="Shape 8"/>
          <p:cNvSpPr/>
          <p:nvPr/>
        </p:nvSpPr>
        <p:spPr>
          <a:xfrm>
            <a:off x="1051560" y="1737360"/>
            <a:ext cx="502920" cy="502920"/>
          </a:xfrm>
          <a:prstGeom prst="rect">
            <a:avLst/>
          </a:prstGeom>
          <a:solidFill>
            <a:srgbClr val="94A3B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1" name="Shape 9"/>
          <p:cNvSpPr/>
          <p:nvPr/>
        </p:nvSpPr>
        <p:spPr>
          <a:xfrm>
            <a:off x="1554480" y="1737360"/>
            <a:ext cx="502920" cy="502920"/>
          </a:xfrm>
          <a:prstGeom prst="rect">
            <a:avLst/>
          </a:prstGeom>
          <a:solidFill>
            <a:srgbClr val="94A3B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2" name="Shape 10"/>
          <p:cNvSpPr/>
          <p:nvPr/>
        </p:nvSpPr>
        <p:spPr>
          <a:xfrm>
            <a:off x="2057400" y="1737360"/>
            <a:ext cx="502920" cy="502920"/>
          </a:xfrm>
          <a:prstGeom prst="rect">
            <a:avLst/>
          </a:prstGeom>
          <a:solidFill>
            <a:srgbClr val="94A3B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3" name="Shape 11"/>
          <p:cNvSpPr/>
          <p:nvPr/>
        </p:nvSpPr>
        <p:spPr>
          <a:xfrm>
            <a:off x="2560320" y="1737360"/>
            <a:ext cx="502920" cy="502920"/>
          </a:xfrm>
          <a:prstGeom prst="rect">
            <a:avLst/>
          </a:prstGeom>
          <a:solidFill>
            <a:srgbClr val="94A3B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4" name="Shape 12"/>
          <p:cNvSpPr/>
          <p:nvPr/>
        </p:nvSpPr>
        <p:spPr>
          <a:xfrm>
            <a:off x="3063240" y="1737360"/>
            <a:ext cx="502920" cy="502920"/>
          </a:xfrm>
          <a:prstGeom prst="rect">
            <a:avLst/>
          </a:prstGeom>
          <a:solidFill>
            <a:srgbClr val="94A3B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5" name="Shape 13"/>
          <p:cNvSpPr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6" name="Shape 14"/>
          <p:cNvSpPr/>
          <p:nvPr/>
        </p:nvSpPr>
        <p:spPr>
          <a:xfrm>
            <a:off x="1051560" y="2240280"/>
            <a:ext cx="502920" cy="502920"/>
          </a:xfrm>
          <a:prstGeom prst="rect">
            <a:avLst/>
          </a:prstGeom>
          <a:solidFill>
            <a:srgbClr val="94A3B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7" name="Shape 15"/>
          <p:cNvSpPr/>
          <p:nvPr/>
        </p:nvSpPr>
        <p:spPr>
          <a:xfrm>
            <a:off x="1554480" y="2240280"/>
            <a:ext cx="50292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8" name="Shape 16"/>
          <p:cNvSpPr/>
          <p:nvPr/>
        </p:nvSpPr>
        <p:spPr>
          <a:xfrm>
            <a:off x="2057400" y="2240280"/>
            <a:ext cx="50292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9" name="Shape 17"/>
          <p:cNvSpPr/>
          <p:nvPr/>
        </p:nvSpPr>
        <p:spPr>
          <a:xfrm>
            <a:off x="2560320" y="2240280"/>
            <a:ext cx="50292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0" name="Shape 18"/>
          <p:cNvSpPr/>
          <p:nvPr/>
        </p:nvSpPr>
        <p:spPr>
          <a:xfrm>
            <a:off x="3063240" y="2240280"/>
            <a:ext cx="502920" cy="502920"/>
          </a:xfrm>
          <a:prstGeom prst="rect">
            <a:avLst/>
          </a:prstGeom>
          <a:solidFill>
            <a:srgbClr val="94A3B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1" name="Shape 19"/>
          <p:cNvSpPr/>
          <p:nvPr/>
        </p:nvSpPr>
        <p:spPr>
          <a:xfrm>
            <a:off x="548640" y="274320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2" name="Shape 20"/>
          <p:cNvSpPr/>
          <p:nvPr/>
        </p:nvSpPr>
        <p:spPr>
          <a:xfrm>
            <a:off x="1051560" y="2743200"/>
            <a:ext cx="502920" cy="502920"/>
          </a:xfrm>
          <a:prstGeom prst="rect">
            <a:avLst/>
          </a:prstGeom>
          <a:solidFill>
            <a:srgbClr val="94A3B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3" name="Shape 21"/>
          <p:cNvSpPr/>
          <p:nvPr/>
        </p:nvSpPr>
        <p:spPr>
          <a:xfrm>
            <a:off x="1554480" y="2743200"/>
            <a:ext cx="502920" cy="502920"/>
          </a:xfrm>
          <a:prstGeom prst="rect">
            <a:avLst/>
          </a:prstGeom>
          <a:solidFill>
            <a:srgbClr val="94A3B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4" name="Shape 22"/>
          <p:cNvSpPr/>
          <p:nvPr/>
        </p:nvSpPr>
        <p:spPr>
          <a:xfrm>
            <a:off x="2057400" y="2743200"/>
            <a:ext cx="502920" cy="502920"/>
          </a:xfrm>
          <a:prstGeom prst="rect">
            <a:avLst/>
          </a:prstGeom>
          <a:solidFill>
            <a:srgbClr val="94A3B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5" name="Shape 23"/>
          <p:cNvSpPr/>
          <p:nvPr/>
        </p:nvSpPr>
        <p:spPr>
          <a:xfrm>
            <a:off x="2560320" y="2743200"/>
            <a:ext cx="502920" cy="502920"/>
          </a:xfrm>
          <a:prstGeom prst="rect">
            <a:avLst/>
          </a:prstGeom>
          <a:solidFill>
            <a:srgbClr val="94A3B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6" name="Shape 24"/>
          <p:cNvSpPr/>
          <p:nvPr/>
        </p:nvSpPr>
        <p:spPr>
          <a:xfrm>
            <a:off x="3063240" y="2743200"/>
            <a:ext cx="502920" cy="502920"/>
          </a:xfrm>
          <a:prstGeom prst="rect">
            <a:avLst/>
          </a:prstGeom>
          <a:solidFill>
            <a:srgbClr val="94A3B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7" name="Shape 25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8" name="Shape 26"/>
          <p:cNvSpPr/>
          <p:nvPr/>
        </p:nvSpPr>
        <p:spPr>
          <a:xfrm>
            <a:off x="1051560" y="324612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9" name="Shape 27"/>
          <p:cNvSpPr/>
          <p:nvPr/>
        </p:nvSpPr>
        <p:spPr>
          <a:xfrm>
            <a:off x="1554480" y="324612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0" name="Shape 28"/>
          <p:cNvSpPr/>
          <p:nvPr/>
        </p:nvSpPr>
        <p:spPr>
          <a:xfrm>
            <a:off x="2057400" y="324612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1" name="Shape 29"/>
          <p:cNvSpPr/>
          <p:nvPr/>
        </p:nvSpPr>
        <p:spPr>
          <a:xfrm>
            <a:off x="2560320" y="324612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2" name="Shape 30"/>
          <p:cNvSpPr/>
          <p:nvPr/>
        </p:nvSpPr>
        <p:spPr>
          <a:xfrm>
            <a:off x="3063240" y="324612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3" name="Shape 31"/>
          <p:cNvSpPr/>
          <p:nvPr/>
        </p:nvSpPr>
        <p:spPr>
          <a:xfrm>
            <a:off x="548640" y="374904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4" name="Shape 32"/>
          <p:cNvSpPr/>
          <p:nvPr/>
        </p:nvSpPr>
        <p:spPr>
          <a:xfrm>
            <a:off x="1051560" y="374904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5" name="Shape 33"/>
          <p:cNvSpPr/>
          <p:nvPr/>
        </p:nvSpPr>
        <p:spPr>
          <a:xfrm>
            <a:off x="1554480" y="374904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6" name="Shape 34"/>
          <p:cNvSpPr/>
          <p:nvPr/>
        </p:nvSpPr>
        <p:spPr>
          <a:xfrm>
            <a:off x="2057400" y="374904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7" name="Shape 35"/>
          <p:cNvSpPr/>
          <p:nvPr/>
        </p:nvSpPr>
        <p:spPr>
          <a:xfrm>
            <a:off x="2560320" y="374904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8" name="Shape 36"/>
          <p:cNvSpPr/>
          <p:nvPr/>
        </p:nvSpPr>
        <p:spPr>
          <a:xfrm>
            <a:off x="3063240" y="3749040"/>
            <a:ext cx="502920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9" name="Text 37"/>
          <p:cNvSpPr txBox="1"/>
          <p:nvPr/>
        </p:nvSpPr>
        <p:spPr>
          <a:xfrm>
            <a:off x="548640" y="43434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Verde: ⛵ barco · Gris: ⬛ máscara (8 vecinos)</a:t>
            </a:r>
            <a:endParaRPr lang="en-US" sz="1100" dirty="0"/>
          </a:p>
        </p:txBody>
      </p:sp>
      <p:sp>
        <p:nvSpPr>
          <p:cNvPr id="40" name="card create_fleet"/>
          <p:cNvSpPr/>
          <p:nvPr/>
        </p:nvSpPr>
        <p:spPr>
          <a:xfrm>
            <a:off x="4023360" y="1143000"/>
            <a:ext cx="466344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1" name="Text 39"/>
          <p:cNvSpPr txBox="1"/>
          <p:nvPr/>
        </p:nvSpPr>
        <p:spPr>
          <a:xfrm>
            <a:off x="4206240" y="12527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create_fleet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4206240" y="164592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Recorre [4,3,3,2,2,2]: crea, coloca y guarda cada barco en fleet_list. Devuelve (board, fleet_list).</a:t>
            </a:r>
            <a:endParaRPr lang="en-US" sz="1400" dirty="0"/>
          </a:p>
        </p:txBody>
      </p:sp>
      <p:sp>
        <p:nvSpPr>
          <p:cNvPr id="43" name="code create_fleet"/>
          <p:cNvSpPr/>
          <p:nvPr/>
        </p:nvSpPr>
        <p:spPr>
          <a:xfrm>
            <a:off x="4023360" y="2743200"/>
            <a:ext cx="4663440" cy="173736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4" name="Shape 42"/>
          <p:cNvSpPr/>
          <p:nvPr/>
        </p:nvSpPr>
        <p:spPr>
          <a:xfrm>
            <a:off x="4160520" y="2852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5" name="Shape 43"/>
          <p:cNvSpPr/>
          <p:nvPr/>
        </p:nvSpPr>
        <p:spPr>
          <a:xfrm>
            <a:off x="4315968" y="2852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6" name="Shape 44"/>
          <p:cNvSpPr/>
          <p:nvPr/>
        </p:nvSpPr>
        <p:spPr>
          <a:xfrm>
            <a:off x="4471416" y="2852928"/>
            <a:ext cx="91440" cy="914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7" name="Text 45"/>
          <p:cNvSpPr txBox="1"/>
          <p:nvPr/>
        </p:nvSpPr>
        <p:spPr>
          <a:xfrm>
            <a:off x="4754880" y="278892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create_fleet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4160520" y="3090672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lenght in fleet_lenghts: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new_ship = create_ship(lenght, board)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board = place_ship(new_ship, board)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fleet_list.append(new_ship)</a:t>
            </a:r>
            <a:endParaRPr lang="en-US" sz="11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utils.py · shoot: el disparo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</a:rPr>
              <a:t>Coordenadas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29968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Jugador: input con validación 0-9. CPU: recibe box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14600" y="118872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8" name="Text 6"/>
          <p:cNvSpPr txBox="1"/>
          <p:nvPr/>
        </p:nvSpPr>
        <p:spPr>
          <a:xfrm>
            <a:off x="251460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</a:rPr>
              <a:t>¿Hay ⛵?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2029968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Pasa a ❎ (tocado)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18872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2" name="Text 10"/>
          <p:cNvSpPr txBox="1"/>
          <p:nvPr/>
        </p:nvSpPr>
        <p:spPr>
          <a:xfrm>
            <a:off x="457200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</a:rPr>
              <a:t>¿Hundido?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029968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Si no quedan ⛵ en ese barco, todo el barco pasa a 💀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29400" y="118872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6" name="Text 14"/>
          <p:cNvSpPr txBox="1"/>
          <p:nvPr/>
        </p:nvSpPr>
        <p:spPr>
          <a:xfrm>
            <a:off x="662940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</a:rPr>
              <a:t>Agua o repetido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2029968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⬜/⬛ pasan a 💧; si no, "Ya has disparado"</a:t>
            </a:r>
            <a:endParaRPr lang="en-US" sz="1400" dirty="0"/>
          </a:p>
        </p:txBody>
      </p:sp>
      <p:sp>
        <p:nvSpPr>
          <p:cNvPr id="19" name="code shoot"/>
          <p:cNvSpPr/>
          <p:nvPr/>
        </p:nvSpPr>
        <p:spPr>
          <a:xfrm>
            <a:off x="457200" y="320040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0" name="Shape 18"/>
          <p:cNvSpPr/>
          <p:nvPr/>
        </p:nvSpPr>
        <p:spPr>
          <a:xfrm>
            <a:off x="594360" y="33101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1" name="Shape 19"/>
          <p:cNvSpPr/>
          <p:nvPr/>
        </p:nvSpPr>
        <p:spPr>
          <a:xfrm>
            <a:off x="749808" y="33101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2" name="Shape 20"/>
          <p:cNvSpPr/>
          <p:nvPr/>
        </p:nvSpPr>
        <p:spPr>
          <a:xfrm>
            <a:off x="905256" y="3310128"/>
            <a:ext cx="91440" cy="914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3" name="Text 21"/>
          <p:cNvSpPr txBox="1"/>
          <p:nvPr/>
        </p:nvSpPr>
        <p:spPr>
          <a:xfrm>
            <a:off x="1188720" y="32461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shoot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547872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board[row, column] == '⛵':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board[row, column] = '❎'      # TOCADO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 board[row, column] in ('⬜', '⬛'):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board[row, column] = '💧'      # AGUA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Vidas, máscaras e interfaz</a:t>
            </a:r>
            <a:endParaRPr lang="en-US" sz="3000" dirty="0"/>
          </a:p>
        </p:txBody>
      </p:sp>
      <p:sp>
        <p:nvSpPr>
          <p:cNvPr id="3" name="card lives"/>
          <p:cNvSpPr/>
          <p:nvPr/>
        </p:nvSpPr>
        <p:spPr>
          <a:xfrm>
            <a:off x="457200" y="114300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" name="Text 2"/>
          <p:cNvSpPr txBox="1"/>
          <p:nvPr/>
        </p:nvSpPr>
        <p:spPr>
          <a:xfrm>
            <a:off x="640080" y="1252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lives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Cuenta los ⛵ que quedan con np.sum. Llega a 0 = flota hundida.</a:t>
            </a:r>
            <a:endParaRPr lang="en-US" sz="1400" dirty="0"/>
          </a:p>
        </p:txBody>
      </p:sp>
      <p:sp>
        <p:nvSpPr>
          <p:cNvPr id="6" name="card hidden_board_*"/>
          <p:cNvSpPr/>
          <p:nvPr/>
        </p:nvSpPr>
        <p:spPr>
          <a:xfrm>
            <a:off x="3246120" y="114300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7" name="Text 5"/>
          <p:cNvSpPr txBox="1"/>
          <p:nvPr/>
        </p:nvSpPr>
        <p:spPr>
          <a:xfrm>
            <a:off x="3429000" y="1252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hidden_board_*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6459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Copia el tablero y oculta ⛵ y ⬛ del enemigo para no ver sus barcos.</a:t>
            </a:r>
            <a:endParaRPr lang="en-US" sz="1400" dirty="0"/>
          </a:p>
        </p:txBody>
      </p:sp>
      <p:sp>
        <p:nvSpPr>
          <p:cNvPr id="9" name="card print_boards"/>
          <p:cNvSpPr/>
          <p:nvPr/>
        </p:nvSpPr>
        <p:spPr>
          <a:xfrm>
            <a:off x="6035040" y="114300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0" name="Text 8"/>
          <p:cNvSpPr txBox="1"/>
          <p:nvPr/>
        </p:nvSpPr>
        <p:spPr>
          <a:xfrm>
            <a:off x="6217920" y="1252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print_boards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6459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Dibuja ambos tableros lado a lado con las vidas (x/16).</a:t>
            </a:r>
            <a:endParaRPr lang="en-US" sz="1400" dirty="0"/>
          </a:p>
        </p:txBody>
      </p:sp>
      <p:sp>
        <p:nvSpPr>
          <p:cNvPr id="12" name="code lives / hidden_board_cpu"/>
          <p:cNvSpPr/>
          <p:nvPr/>
        </p:nvSpPr>
        <p:spPr>
          <a:xfrm>
            <a:off x="457200" y="315468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3" name="Shape 11"/>
          <p:cNvSpPr/>
          <p:nvPr/>
        </p:nvSpPr>
        <p:spPr>
          <a:xfrm>
            <a:off x="594360" y="326440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4" name="Shape 12"/>
          <p:cNvSpPr/>
          <p:nvPr/>
        </p:nvSpPr>
        <p:spPr>
          <a:xfrm>
            <a:off x="749808" y="326440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5" name="Shape 13"/>
          <p:cNvSpPr/>
          <p:nvPr/>
        </p:nvSpPr>
        <p:spPr>
          <a:xfrm>
            <a:off x="905256" y="3264408"/>
            <a:ext cx="91440" cy="914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6" name="Text 14"/>
          <p:cNvSpPr txBox="1"/>
          <p:nvPr/>
        </p:nvSpPr>
        <p:spPr>
          <a:xfrm>
            <a:off x="1188720" y="32004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lives / hidden_board_cpu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502152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remaining_lives = np.sum(board == '⛵')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 = board.copy()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hidden[hidden == '⛵'] = '⬜'   # el enemigo no se ve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bot.py · La CPU: clase cpu</a:t>
            </a:r>
            <a:endParaRPr lang="en-US" sz="3000" dirty="0"/>
          </a:p>
        </p:txBody>
      </p:sp>
      <p:sp>
        <p:nvSpPr>
          <p:cNvPr id="3" name="card __init__ y easy_cpu"/>
          <p:cNvSpPr/>
          <p:nvPr/>
        </p:nvSpPr>
        <p:spPr>
          <a:xfrm>
            <a:off x="457200" y="114300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" name="Text 2"/>
          <p:cNvSpPr txBox="1"/>
          <p:nvPr/>
        </p:nvSpPr>
        <p:spPr>
          <a:xfrm>
            <a:off x="640080" y="12527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__init__ y easy_cpu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3566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Guarda size y una paridad aleatoria (0/1). Easy reúne las casillas válidas y dispara a una al azar.</a:t>
            </a:r>
            <a:endParaRPr lang="en-US" sz="1400" dirty="0"/>
          </a:p>
        </p:txBody>
      </p:sp>
      <p:sp>
        <p:nvSpPr>
          <p:cNvPr id="6" name="code bot.py"/>
          <p:cNvSpPr/>
          <p:nvPr/>
        </p:nvSpPr>
        <p:spPr>
          <a:xfrm>
            <a:off x="4572000" y="1143000"/>
            <a:ext cx="4114800" cy="3383280"/>
          </a:xfrm>
          <a:prstGeom prst="roundRect">
            <a:avLst>
              <a:gd name="adj" fmla="val 2162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7" name="Shape 5"/>
          <p:cNvSpPr/>
          <p:nvPr/>
        </p:nvSpPr>
        <p:spPr>
          <a:xfrm>
            <a:off x="4709160" y="12527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8" name="Shape 6"/>
          <p:cNvSpPr/>
          <p:nvPr/>
        </p:nvSpPr>
        <p:spPr>
          <a:xfrm>
            <a:off x="4864608" y="12527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9" name="Shape 7"/>
          <p:cNvSpPr/>
          <p:nvPr/>
        </p:nvSpPr>
        <p:spPr>
          <a:xfrm>
            <a:off x="5020056" y="1252728"/>
            <a:ext cx="91440" cy="914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0" name="Text 8"/>
          <p:cNvSpPr txBox="1"/>
          <p:nvPr/>
        </p:nvSpPr>
        <p:spPr>
          <a:xfrm>
            <a:off x="5303520" y="11887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bot.py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1490472"/>
            <a:ext cx="38404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cpu: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__init__(self, size=10):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self.size = 10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self.parity = random.choice([0,1])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easy_cpu(self, player_board):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random_shots = []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recorre y guarda ⬜ y ⛵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random.choice(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random_shots)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004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Devuelve None si no quedan casillas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bot.py · Niveles Medium y Hard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" name="Shape 2"/>
          <p:cNvSpPr/>
          <p:nvPr/>
        </p:nvSpPr>
        <p:spPr>
          <a:xfrm>
            <a:off x="1005840" y="12344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5" name="Shape 3"/>
          <p:cNvSpPr/>
          <p:nvPr/>
        </p:nvSpPr>
        <p:spPr>
          <a:xfrm>
            <a:off x="1463040" y="12344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6" name="Shape 4"/>
          <p:cNvSpPr/>
          <p:nvPr/>
        </p:nvSpPr>
        <p:spPr>
          <a:xfrm>
            <a:off x="1920240" y="12344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7" name="Shape 5"/>
          <p:cNvSpPr/>
          <p:nvPr/>
        </p:nvSpPr>
        <p:spPr>
          <a:xfrm>
            <a:off x="2377440" y="12344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9" name="Shape 7"/>
          <p:cNvSpPr/>
          <p:nvPr/>
        </p:nvSpPr>
        <p:spPr>
          <a:xfrm>
            <a:off x="1005840" y="16916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0" name="Shape 8"/>
          <p:cNvSpPr/>
          <p:nvPr/>
        </p:nvSpPr>
        <p:spPr>
          <a:xfrm>
            <a:off x="1463040" y="1691640"/>
            <a:ext cx="457200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1" name="Shape 9"/>
          <p:cNvSpPr/>
          <p:nvPr/>
        </p:nvSpPr>
        <p:spPr>
          <a:xfrm>
            <a:off x="1920240" y="16916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2" name="Shape 10"/>
          <p:cNvSpPr/>
          <p:nvPr/>
        </p:nvSpPr>
        <p:spPr>
          <a:xfrm>
            <a:off x="2377440" y="16916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3" name="Shape 11"/>
          <p:cNvSpPr/>
          <p:nvPr/>
        </p:nvSpPr>
        <p:spPr>
          <a:xfrm>
            <a:off x="548640" y="21488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4" name="Shape 12"/>
          <p:cNvSpPr/>
          <p:nvPr/>
        </p:nvSpPr>
        <p:spPr>
          <a:xfrm>
            <a:off x="1005840" y="2148840"/>
            <a:ext cx="457200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5" name="Shape 13"/>
          <p:cNvSpPr/>
          <p:nvPr/>
        </p:nvSpPr>
        <p:spPr>
          <a:xfrm>
            <a:off x="1463040" y="2148840"/>
            <a:ext cx="45720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6" name="Shape 14"/>
          <p:cNvSpPr/>
          <p:nvPr/>
        </p:nvSpPr>
        <p:spPr>
          <a:xfrm>
            <a:off x="1920240" y="2148840"/>
            <a:ext cx="457200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7" name="Shape 15"/>
          <p:cNvSpPr/>
          <p:nvPr/>
        </p:nvSpPr>
        <p:spPr>
          <a:xfrm>
            <a:off x="2377440" y="21488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8" name="Shape 16"/>
          <p:cNvSpPr/>
          <p:nvPr/>
        </p:nvSpPr>
        <p:spPr>
          <a:xfrm>
            <a:off x="548640" y="26060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9" name="Shape 17"/>
          <p:cNvSpPr/>
          <p:nvPr/>
        </p:nvSpPr>
        <p:spPr>
          <a:xfrm>
            <a:off x="1005840" y="26060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0" name="Shape 18"/>
          <p:cNvSpPr/>
          <p:nvPr/>
        </p:nvSpPr>
        <p:spPr>
          <a:xfrm>
            <a:off x="1463040" y="2606040"/>
            <a:ext cx="457200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1" name="Shape 19"/>
          <p:cNvSpPr/>
          <p:nvPr/>
        </p:nvSpPr>
        <p:spPr>
          <a:xfrm>
            <a:off x="1920240" y="26060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2" name="Shape 20"/>
          <p:cNvSpPr/>
          <p:nvPr/>
        </p:nvSpPr>
        <p:spPr>
          <a:xfrm>
            <a:off x="2377440" y="26060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3" name="Shape 21"/>
          <p:cNvSpPr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4" name="Shape 22"/>
          <p:cNvSpPr/>
          <p:nvPr/>
        </p:nvSpPr>
        <p:spPr>
          <a:xfrm>
            <a:off x="1005840" y="30632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5" name="Shape 23"/>
          <p:cNvSpPr/>
          <p:nvPr/>
        </p:nvSpPr>
        <p:spPr>
          <a:xfrm>
            <a:off x="1463040" y="30632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6" name="Shape 24"/>
          <p:cNvSpPr/>
          <p:nvPr/>
        </p:nvSpPr>
        <p:spPr>
          <a:xfrm>
            <a:off x="1920240" y="30632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7" name="Shape 25"/>
          <p:cNvSpPr/>
          <p:nvPr/>
        </p:nvSpPr>
        <p:spPr>
          <a:xfrm>
            <a:off x="2377440" y="30632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8" name="Text 26"/>
          <p:cNvSpPr txBox="1"/>
          <p:nvPr/>
        </p:nvSpPr>
        <p:spPr>
          <a:xfrm>
            <a:off x="548640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Medium: tras un ❎ dispara a los 4 vecinos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200400" y="1234440"/>
            <a:ext cx="457200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0" name="Shape 28"/>
          <p:cNvSpPr/>
          <p:nvPr/>
        </p:nvSpPr>
        <p:spPr>
          <a:xfrm>
            <a:off x="3657600" y="12344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1" name="Shape 29"/>
          <p:cNvSpPr/>
          <p:nvPr/>
        </p:nvSpPr>
        <p:spPr>
          <a:xfrm>
            <a:off x="4114800" y="1234440"/>
            <a:ext cx="457200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2" name="Shape 30"/>
          <p:cNvSpPr/>
          <p:nvPr/>
        </p:nvSpPr>
        <p:spPr>
          <a:xfrm>
            <a:off x="4572000" y="12344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3" name="Shape 31"/>
          <p:cNvSpPr/>
          <p:nvPr/>
        </p:nvSpPr>
        <p:spPr>
          <a:xfrm>
            <a:off x="5029200" y="1234440"/>
            <a:ext cx="457200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4" name="Shape 32"/>
          <p:cNvSpPr/>
          <p:nvPr/>
        </p:nvSpPr>
        <p:spPr>
          <a:xfrm>
            <a:off x="3200400" y="16916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5" name="Shape 33"/>
          <p:cNvSpPr/>
          <p:nvPr/>
        </p:nvSpPr>
        <p:spPr>
          <a:xfrm>
            <a:off x="3657600" y="1691640"/>
            <a:ext cx="457200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6" name="Shape 34"/>
          <p:cNvSpPr/>
          <p:nvPr/>
        </p:nvSpPr>
        <p:spPr>
          <a:xfrm>
            <a:off x="4114800" y="16916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7" name="Shape 35"/>
          <p:cNvSpPr/>
          <p:nvPr/>
        </p:nvSpPr>
        <p:spPr>
          <a:xfrm>
            <a:off x="4572000" y="1691640"/>
            <a:ext cx="457200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8" name="Shape 36"/>
          <p:cNvSpPr/>
          <p:nvPr/>
        </p:nvSpPr>
        <p:spPr>
          <a:xfrm>
            <a:off x="5029200" y="16916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9" name="Shape 37"/>
          <p:cNvSpPr/>
          <p:nvPr/>
        </p:nvSpPr>
        <p:spPr>
          <a:xfrm>
            <a:off x="3200400" y="2148840"/>
            <a:ext cx="457200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0" name="Shape 38"/>
          <p:cNvSpPr/>
          <p:nvPr/>
        </p:nvSpPr>
        <p:spPr>
          <a:xfrm>
            <a:off x="3657600" y="21488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1" name="Shape 39"/>
          <p:cNvSpPr/>
          <p:nvPr/>
        </p:nvSpPr>
        <p:spPr>
          <a:xfrm>
            <a:off x="4114800" y="2148840"/>
            <a:ext cx="457200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2" name="Shape 40"/>
          <p:cNvSpPr/>
          <p:nvPr/>
        </p:nvSpPr>
        <p:spPr>
          <a:xfrm>
            <a:off x="4572000" y="21488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3" name="Shape 41"/>
          <p:cNvSpPr/>
          <p:nvPr/>
        </p:nvSpPr>
        <p:spPr>
          <a:xfrm>
            <a:off x="5029200" y="2148840"/>
            <a:ext cx="457200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4" name="Shape 42"/>
          <p:cNvSpPr/>
          <p:nvPr/>
        </p:nvSpPr>
        <p:spPr>
          <a:xfrm>
            <a:off x="3200400" y="26060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5" name="Shape 43"/>
          <p:cNvSpPr/>
          <p:nvPr/>
        </p:nvSpPr>
        <p:spPr>
          <a:xfrm>
            <a:off x="3657600" y="2606040"/>
            <a:ext cx="457200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6" name="Shape 44"/>
          <p:cNvSpPr/>
          <p:nvPr/>
        </p:nvSpPr>
        <p:spPr>
          <a:xfrm>
            <a:off x="4114800" y="26060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7" name="Shape 45"/>
          <p:cNvSpPr/>
          <p:nvPr/>
        </p:nvSpPr>
        <p:spPr>
          <a:xfrm>
            <a:off x="4572000" y="2606040"/>
            <a:ext cx="457200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8" name="Shape 46"/>
          <p:cNvSpPr/>
          <p:nvPr/>
        </p:nvSpPr>
        <p:spPr>
          <a:xfrm>
            <a:off x="5029200" y="26060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9" name="Shape 47"/>
          <p:cNvSpPr/>
          <p:nvPr/>
        </p:nvSpPr>
        <p:spPr>
          <a:xfrm>
            <a:off x="3200400" y="3063240"/>
            <a:ext cx="457200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50" name="Shape 48"/>
          <p:cNvSpPr/>
          <p:nvPr/>
        </p:nvSpPr>
        <p:spPr>
          <a:xfrm>
            <a:off x="3657600" y="30632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51" name="Shape 49"/>
          <p:cNvSpPr/>
          <p:nvPr/>
        </p:nvSpPr>
        <p:spPr>
          <a:xfrm>
            <a:off x="4114800" y="3063240"/>
            <a:ext cx="457200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52" name="Shape 50"/>
          <p:cNvSpPr/>
          <p:nvPr/>
        </p:nvSpPr>
        <p:spPr>
          <a:xfrm>
            <a:off x="4572000" y="3063240"/>
            <a:ext cx="457200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53" name="Shape 51"/>
          <p:cNvSpPr/>
          <p:nvPr/>
        </p:nvSpPr>
        <p:spPr>
          <a:xfrm>
            <a:off x="5029200" y="3063240"/>
            <a:ext cx="457200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54" name="Text 52"/>
          <p:cNvSpPr txBox="1"/>
          <p:nvPr/>
        </p:nvSpPr>
        <p:spPr>
          <a:xfrm>
            <a:off x="3200400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Hard: sin ❎ pendientes, dispara en damero</a:t>
            </a:r>
            <a:endParaRPr lang="en-US" sz="1400" dirty="0"/>
          </a:p>
        </p:txBody>
      </p:sp>
      <p:sp>
        <p:nvSpPr>
          <p:cNvPr id="55" name="code hard_cpu"/>
          <p:cNvSpPr/>
          <p:nvPr/>
        </p:nvSpPr>
        <p:spPr>
          <a:xfrm>
            <a:off x="5760720" y="1143000"/>
            <a:ext cx="2926080" cy="338328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56" name="Shape 54"/>
          <p:cNvSpPr/>
          <p:nvPr/>
        </p:nvSpPr>
        <p:spPr>
          <a:xfrm>
            <a:off x="5897880" y="12527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57" name="Shape 55"/>
          <p:cNvSpPr/>
          <p:nvPr/>
        </p:nvSpPr>
        <p:spPr>
          <a:xfrm>
            <a:off x="6053328" y="12527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58" name="Shape 56"/>
          <p:cNvSpPr/>
          <p:nvPr/>
        </p:nvSpPr>
        <p:spPr>
          <a:xfrm>
            <a:off x="6208776" y="1252728"/>
            <a:ext cx="91440" cy="914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59" name="Text 57"/>
          <p:cNvSpPr txBox="1"/>
          <p:nvPr/>
        </p:nvSpPr>
        <p:spPr>
          <a:xfrm>
            <a:off x="6492240" y="11887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hard_cpu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5897880" y="1490472"/>
            <a:ext cx="26517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Hard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len(hit_boxes) &gt; 0: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self.medium_cpu(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player_board)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 + c) % 2 == self.parity: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pair_boxes.append((r, c))</a:t>
            </a:r>
            <a:endParaRPr lang="en-US" sz="1100" dirty="0"/>
          </a:p>
        </p:txBody>
      </p:sp>
      <p:sp>
        <p:nvSpPr>
          <p:cNvPr id="6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main.py · La función play()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45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</a:rPr>
              <a:t>Inicio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84248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Bienvenida y elección de nivel validada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14600" y="114300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8" name="Text 6"/>
          <p:cNvSpPr txBox="1"/>
          <p:nvPr/>
        </p:nvSpPr>
        <p:spPr>
          <a:xfrm>
            <a:off x="2514600" y="1143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1645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</a:rPr>
              <a:t>Setup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1984248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Dos tableros y dos flotas con create_fleet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14300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2" name="Text 10"/>
          <p:cNvSpPr txBox="1"/>
          <p:nvPr/>
        </p:nvSpPr>
        <p:spPr>
          <a:xfrm>
            <a:off x="4572000" y="1143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1645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</a:rPr>
              <a:t>Tu turno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1984248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shoot y comprobar lives(cpu) == 0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29400" y="114300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6" name="Text 14"/>
          <p:cNvSpPr txBox="1"/>
          <p:nvPr/>
        </p:nvSpPr>
        <p:spPr>
          <a:xfrm>
            <a:off x="6629400" y="1143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1645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</a:rPr>
              <a:t>Turno CPU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1984248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El nivel elegido devuelve la casilla</a:t>
            </a:r>
            <a:endParaRPr lang="en-US" sz="1400" dirty="0"/>
          </a:p>
        </p:txBody>
      </p:sp>
      <p:sp>
        <p:nvSpPr>
          <p:cNvPr id="19" name="code main.py"/>
          <p:cNvSpPr/>
          <p:nvPr/>
        </p:nvSpPr>
        <p:spPr>
          <a:xfrm>
            <a:off x="457200" y="320040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0" name="Shape 18"/>
          <p:cNvSpPr/>
          <p:nvPr/>
        </p:nvSpPr>
        <p:spPr>
          <a:xfrm>
            <a:off x="594360" y="33101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1" name="Shape 19"/>
          <p:cNvSpPr/>
          <p:nvPr/>
        </p:nvSpPr>
        <p:spPr>
          <a:xfrm>
            <a:off x="749808" y="33101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2" name="Shape 20"/>
          <p:cNvSpPr/>
          <p:nvPr/>
        </p:nvSpPr>
        <p:spPr>
          <a:xfrm>
            <a:off x="905256" y="3310128"/>
            <a:ext cx="91440" cy="914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3" name="Text 21"/>
          <p:cNvSpPr txBox="1"/>
          <p:nvPr/>
        </p:nvSpPr>
        <p:spPr>
          <a:xfrm>
            <a:off x="1188720" y="32461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main.py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547872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cpu_level = {"easy": bot.easy_cpu,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"medium": bot.medium_cpu,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"hard": bot.hard_cpu}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shot_box = cpu_level[dificulty](player_board)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visual.py y el final de la partida</a:t>
            </a:r>
            <a:endParaRPr lang="en-US" sz="3000" dirty="0"/>
          </a:p>
        </p:txBody>
      </p:sp>
      <p:sp>
        <p:nvSpPr>
          <p:cNvPr id="3" name="card slowprint"/>
          <p:cNvSpPr/>
          <p:nvPr/>
        </p:nvSpPr>
        <p:spPr>
          <a:xfrm>
            <a:off x="457200" y="114300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" name="Text 2"/>
          <p:cNvSpPr txBox="1"/>
          <p:nvPr/>
        </p:nvSpPr>
        <p:spPr>
          <a:xfrm>
            <a:off x="640080" y="12527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slowprint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3566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Imprime letra a letra con time.sleep para dar efecto de radar en el terminal.</a:t>
            </a:r>
            <a:endParaRPr lang="en-US" sz="1400" dirty="0"/>
          </a:p>
        </p:txBody>
      </p:sp>
      <p:sp>
        <p:nvSpPr>
          <p:cNvPr id="6" name="code visual.py"/>
          <p:cNvSpPr/>
          <p:nvPr/>
        </p:nvSpPr>
        <p:spPr>
          <a:xfrm>
            <a:off x="457200" y="30632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7" name="Shape 5"/>
          <p:cNvSpPr/>
          <p:nvPr/>
        </p:nvSpPr>
        <p:spPr>
          <a:xfrm>
            <a:off x="594360" y="317296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8" name="Shape 6"/>
          <p:cNvSpPr/>
          <p:nvPr/>
        </p:nvSpPr>
        <p:spPr>
          <a:xfrm>
            <a:off x="749808" y="317296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9" name="Shape 7"/>
          <p:cNvSpPr/>
          <p:nvPr/>
        </p:nvSpPr>
        <p:spPr>
          <a:xfrm>
            <a:off x="905256" y="3172968"/>
            <a:ext cx="91440" cy="9144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0" name="Text 8"/>
          <p:cNvSpPr txBox="1"/>
          <p:nvPr/>
        </p:nvSpPr>
        <p:spPr>
          <a:xfrm>
            <a:off x="1188720" y="31089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visual.py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10712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letra in texto: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sys.stdout.write(letra)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sys.stdout.flush()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time.sleep(velocidad)</a:t>
            </a:r>
            <a:endParaRPr lang="en-US" sz="1100" dirty="0"/>
          </a:p>
        </p:txBody>
      </p:sp>
      <p:sp>
        <p:nvSpPr>
          <p:cNvPr id="12" name="card Fin de partida"/>
          <p:cNvSpPr/>
          <p:nvPr/>
        </p:nvSpPr>
        <p:spPr>
          <a:xfrm>
            <a:off x="4572000" y="1143000"/>
            <a:ext cx="4114800" cy="3383280"/>
          </a:xfrm>
          <a:prstGeom prst="roundRect">
            <a:avLst>
              <a:gd name="adj" fmla="val 216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3" name="Text 11"/>
          <p:cNvSpPr txBox="1"/>
          <p:nvPr/>
        </p:nvSpPr>
        <p:spPr>
          <a:xfrm>
            <a:off x="4754880" y="12527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</a:rPr>
              <a:t>Fin de partida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1645920"/>
            <a:ext cx="37490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Si lives(cpu_board) llega a 0 ganas 🏆.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Si lives(player_board) llega a 0 pierdes ☠️ y lost_board_cpu revela la flota enemiga fila a fila.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Mejoras posibles</a:t>
            </a:r>
            <a:endParaRPr lang="en-US" sz="3000" dirty="0"/>
          </a:p>
        </p:txBody>
      </p:sp>
      <p:sp>
        <p:nvSpPr>
          <p:cNvPr id="3" name="card Bot más listo"/>
          <p:cNvSpPr/>
          <p:nvPr/>
        </p:nvSpPr>
        <p:spPr>
          <a:xfrm>
            <a:off x="457200" y="114300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" name="Text 2"/>
          <p:cNvSpPr txBox="1"/>
          <p:nvPr/>
        </p:nvSpPr>
        <p:spPr>
          <a:xfrm>
            <a:off x="640080" y="12527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06"/>
                </a:solidFill>
              </a:rPr>
              <a:t>Bot más listo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Tras dos tocados, seguir la línea del barco en vez de probar los 4 vecinos.</a:t>
            </a:r>
            <a:endParaRPr lang="en-US" sz="1400" dirty="0"/>
          </a:p>
        </p:txBody>
      </p:sp>
      <p:sp>
        <p:nvSpPr>
          <p:cNvPr id="6" name="card Menos &quot;trampa&quot;"/>
          <p:cNvSpPr/>
          <p:nvPr/>
        </p:nvSpPr>
        <p:spPr>
          <a:xfrm>
            <a:off x="4754880" y="114300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7" name="Text 5"/>
          <p:cNvSpPr txBox="1"/>
          <p:nvPr/>
        </p:nvSpPr>
        <p:spPr>
          <a:xfrm>
            <a:off x="4937760" y="12527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06"/>
                </a:solidFill>
              </a:rPr>
              <a:t>Menos "trampa"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6459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El bot lee ⬛ del tablero real y evita esas casillas; debería usar solo lo que ha visto.</a:t>
            </a:r>
            <a:endParaRPr lang="en-US" sz="1400" dirty="0"/>
          </a:p>
        </p:txBody>
      </p:sp>
      <p:sp>
        <p:nvSpPr>
          <p:cNvPr id="9" name="card Sin números fijos"/>
          <p:cNvSpPr/>
          <p:nvPr/>
        </p:nvSpPr>
        <p:spPr>
          <a:xfrm>
            <a:off x="457200" y="297180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0" name="Text 8"/>
          <p:cNvSpPr txBox="1"/>
          <p:nvPr/>
        </p:nvSpPr>
        <p:spPr>
          <a:xfrm>
            <a:off x="640080" y="30815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06"/>
                </a:solidFill>
              </a:rPr>
              <a:t>Sin números fijos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4747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size=10 y 16 vidas están escritos a mano; pasar size como parámetro.</a:t>
            </a:r>
            <a:endParaRPr lang="en-US" sz="1400" dirty="0"/>
          </a:p>
        </p:txBody>
      </p:sp>
      <p:sp>
        <p:nvSpPr>
          <p:cNvPr id="12" name="card Código más limpio"/>
          <p:cNvSpPr/>
          <p:nvPr/>
        </p:nvSpPr>
        <p:spPr>
          <a:xfrm>
            <a:off x="4754880" y="297180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3" name="Text 11"/>
          <p:cNvSpPr txBox="1"/>
          <p:nvPr/>
        </p:nvSpPr>
        <p:spPr>
          <a:xfrm>
            <a:off x="4937760" y="30815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06"/>
                </a:solidFill>
              </a:rPr>
              <a:t>Código más limpio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34747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Reutilizar la lectura de fila/columna y el recorrido de ❎ en una función.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Light">
  <a:themeElements>
    <a:clrScheme name="CodeLight">
      <a:dk1>
        <a:srgbClr val="1E293B"/>
      </a:dk1>
      <a:lt1>
        <a:srgbClr val="FFFFFF"/>
      </a:lt1>
      <a:dk2>
        <a:srgbClr val="0F766E"/>
      </a:dk2>
      <a:lt2>
        <a:srgbClr val="F1F5F9"/>
      </a:lt2>
      <a:accent1>
        <a:srgbClr val="0F766E"/>
      </a:accent1>
      <a:accent2>
        <a:srgbClr val="D97706"/>
      </a:accent2>
      <a:accent3>
        <a:srgbClr val="4F46E5"/>
      </a:accent3>
      <a:accent4>
        <a:srgbClr val="64748B"/>
      </a:accent4>
      <a:accent5>
        <a:srgbClr val="CBD5E1"/>
      </a:accent5>
      <a:accent6>
        <a:srgbClr val="DC2626"/>
      </a:accent6>
      <a:hlink>
        <a:srgbClr val="0F766E"/>
      </a:hlink>
      <a:folHlink>
        <a:srgbClr val="64748B"/>
      </a:folHlink>
    </a:clrScheme>
    <a:fontScheme name="CodeLigh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1155</Words>
  <Application>Microsoft Macintosh PowerPoint</Application>
  <PresentationFormat>Presentación en pantalla (16:9)</PresentationFormat>
  <Paragraphs>212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Arial</vt:lpstr>
      <vt:lpstr>Calibri</vt:lpstr>
      <vt:lpstr>Cambria</vt:lpstr>
      <vt:lpstr>Courier New</vt:lpstr>
      <vt:lpstr>CodeLight</vt:lpstr>
      <vt:lpstr>Presentación de PowerPoint</vt:lpstr>
      <vt:lpstr>Estructura del proyecto</vt:lpstr>
      <vt:lpstr>El tablero y la flota. Leyenda</vt:lpstr>
      <vt:lpstr>utils.py · Crear el tablero y los barcos</vt:lpstr>
      <vt:lpstr>Máscara anti-contacto y flota completa</vt:lpstr>
      <vt:lpstr>utils.py · shoot: el disparo</vt:lpstr>
      <vt:lpstr>Vidas, máscaras e interfaz</vt:lpstr>
      <vt:lpstr>bot.py · La CPU: clase cpu</vt:lpstr>
      <vt:lpstr>bot.py · Niveles Medium y Hard</vt:lpstr>
      <vt:lpstr>main.py · La función play()</vt:lpstr>
      <vt:lpstr>visual.py y el final de la partida</vt:lpstr>
      <vt:lpstr>Mejoras posibles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Jorge Sánchez</cp:lastModifiedBy>
  <cp:revision>4</cp:revision>
  <dcterms:created xsi:type="dcterms:W3CDTF">2026-10-14T08:45:17Z</dcterms:created>
  <dcterms:modified xsi:type="dcterms:W3CDTF">2026-10-14T09:52:03Z</dcterms:modified>
</cp:coreProperties>
</file>